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BC6F0E-35FB-4991-9805-E4C59525D51C}"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2758600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BC6F0E-35FB-4991-9805-E4C59525D51C}"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3245503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BC6F0E-35FB-4991-9805-E4C59525D51C}"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4093768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BC6F0E-35FB-4991-9805-E4C59525D51C}"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385292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BC6F0E-35FB-4991-9805-E4C59525D51C}"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3132096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BC6F0E-35FB-4991-9805-E4C59525D51C}"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362331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BC6F0E-35FB-4991-9805-E4C59525D51C}"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3166925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BC6F0E-35FB-4991-9805-E4C59525D51C}"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1460227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BC6F0E-35FB-4991-9805-E4C59525D51C}"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1582439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BC6F0E-35FB-4991-9805-E4C59525D51C}"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4280640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BC6F0E-35FB-4991-9805-E4C59525D51C}"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86EC6-B8AD-4017-8048-5874AFCFEEE7}" type="slidenum">
              <a:rPr lang="en-US" smtClean="0"/>
              <a:t>‹#›</a:t>
            </a:fld>
            <a:endParaRPr lang="en-US"/>
          </a:p>
        </p:txBody>
      </p:sp>
    </p:spTree>
    <p:extLst>
      <p:ext uri="{BB962C8B-B14F-4D97-AF65-F5344CB8AC3E}">
        <p14:creationId xmlns:p14="http://schemas.microsoft.com/office/powerpoint/2010/main" val="167563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BC6F0E-35FB-4991-9805-E4C59525D51C}" type="datetimeFigureOut">
              <a:rPr lang="en-US" smtClean="0"/>
              <a:t>12/11/2025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B86EC6-B8AD-4017-8048-5874AFCFEEE7}" type="slidenum">
              <a:rPr lang="en-US" smtClean="0"/>
              <a:t>‹#›</a:t>
            </a:fld>
            <a:endParaRPr lang="en-US"/>
          </a:p>
        </p:txBody>
      </p:sp>
    </p:spTree>
    <p:extLst>
      <p:ext uri="{BB962C8B-B14F-4D97-AF65-F5344CB8AC3E}">
        <p14:creationId xmlns:p14="http://schemas.microsoft.com/office/powerpoint/2010/main" val="741246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EB9CE6-E3B0-22D1-ECDD-1C24EBE949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5334000" cy="6858000"/>
          </a:xfrm>
          <a:prstGeom prst="rect">
            <a:avLst/>
          </a:prstGeom>
        </p:spPr>
      </p:pic>
      <p:sp>
        <p:nvSpPr>
          <p:cNvPr id="7" name="TextBox 6">
            <a:extLst>
              <a:ext uri="{FF2B5EF4-FFF2-40B4-BE49-F238E27FC236}">
                <a16:creationId xmlns:a16="http://schemas.microsoft.com/office/drawing/2014/main" id="{EAFCFADB-8230-41A2-5A56-F5829E8DF78E}"/>
              </a:ext>
            </a:extLst>
          </p:cNvPr>
          <p:cNvSpPr txBox="1"/>
          <p:nvPr/>
        </p:nvSpPr>
        <p:spPr>
          <a:xfrm>
            <a:off x="633222" y="254246"/>
            <a:ext cx="6094476" cy="523220"/>
          </a:xfrm>
          <a:prstGeom prst="rect">
            <a:avLst/>
          </a:prstGeom>
          <a:noFill/>
        </p:spPr>
        <p:txBody>
          <a:bodyPr wrap="square">
            <a:spAutoFit/>
          </a:bodyPr>
          <a:lstStyle/>
          <a:p>
            <a:pPr>
              <a:buNone/>
            </a:pPr>
            <a:r>
              <a:rPr lang="en-US" sz="2800" b="1" dirty="0"/>
              <a:t>IPv4 vs IPv6</a:t>
            </a:r>
          </a:p>
        </p:txBody>
      </p:sp>
      <p:sp>
        <p:nvSpPr>
          <p:cNvPr id="9" name="TextBox 8">
            <a:extLst>
              <a:ext uri="{FF2B5EF4-FFF2-40B4-BE49-F238E27FC236}">
                <a16:creationId xmlns:a16="http://schemas.microsoft.com/office/drawing/2014/main" id="{4AD22E05-EE4E-CEE2-1804-D1F76CA2FB75}"/>
              </a:ext>
            </a:extLst>
          </p:cNvPr>
          <p:cNvSpPr txBox="1"/>
          <p:nvPr/>
        </p:nvSpPr>
        <p:spPr>
          <a:xfrm>
            <a:off x="486918" y="1397675"/>
            <a:ext cx="6094476" cy="2031325"/>
          </a:xfrm>
          <a:prstGeom prst="rect">
            <a:avLst/>
          </a:prstGeom>
          <a:noFill/>
        </p:spPr>
        <p:txBody>
          <a:bodyPr wrap="square">
            <a:spAutoFit/>
          </a:bodyPr>
          <a:lstStyle/>
          <a:p>
            <a:pPr>
              <a:buNone/>
            </a:pPr>
            <a:r>
              <a:rPr lang="en-US" b="1" dirty="0"/>
              <a:t>IPv4: Current Standard</a:t>
            </a:r>
          </a:p>
          <a:p>
            <a:pPr>
              <a:buFont typeface="Arial" panose="020B0604020202020204" pitchFamily="34" charset="0"/>
              <a:buChar char="•"/>
            </a:pPr>
            <a:r>
              <a:rPr lang="en-US" b="1" dirty="0"/>
              <a:t>Address Format:</a:t>
            </a:r>
            <a:r>
              <a:rPr lang="en-US" dirty="0"/>
              <a:t> 32-bit numeric addresses (e.g., 192.168.1.1)</a:t>
            </a:r>
          </a:p>
          <a:p>
            <a:pPr>
              <a:buFont typeface="Arial" panose="020B0604020202020204" pitchFamily="34" charset="0"/>
              <a:buChar char="•"/>
            </a:pPr>
            <a:r>
              <a:rPr lang="en-US" b="1" dirty="0"/>
              <a:t>Address Space:</a:t>
            </a:r>
            <a:r>
              <a:rPr lang="en-US" dirty="0"/>
              <a:t> Approximately 4.3 billion unique addresses</a:t>
            </a:r>
          </a:p>
          <a:p>
            <a:pPr>
              <a:buFont typeface="Arial" panose="020B0604020202020204" pitchFamily="34" charset="0"/>
              <a:buChar char="•"/>
            </a:pPr>
            <a:r>
              <a:rPr lang="en-US" b="1" dirty="0"/>
              <a:t>Configuration:</a:t>
            </a:r>
            <a:r>
              <a:rPr lang="en-US" dirty="0"/>
              <a:t> Primarily manual or DHCP-based</a:t>
            </a:r>
          </a:p>
          <a:p>
            <a:pPr>
              <a:buFont typeface="Arial" panose="020B0604020202020204" pitchFamily="34" charset="0"/>
              <a:buChar char="•"/>
            </a:pPr>
            <a:r>
              <a:rPr lang="en-US" b="1" dirty="0"/>
              <a:t>Security:</a:t>
            </a:r>
            <a:r>
              <a:rPr lang="en-US" dirty="0"/>
              <a:t> IPsec is optional, not inherently built-in</a:t>
            </a:r>
          </a:p>
          <a:p>
            <a:pPr>
              <a:buFont typeface="Arial" panose="020B0604020202020204" pitchFamily="34" charset="0"/>
              <a:buChar char="•"/>
            </a:pPr>
            <a:r>
              <a:rPr lang="en-US" b="1" dirty="0"/>
              <a:t>Features:</a:t>
            </a:r>
            <a:r>
              <a:rPr lang="en-US" dirty="0"/>
              <a:t> Widely deployed, supports NAT for address conservation</a:t>
            </a:r>
          </a:p>
        </p:txBody>
      </p:sp>
      <p:sp>
        <p:nvSpPr>
          <p:cNvPr id="11" name="TextBox 10">
            <a:extLst>
              <a:ext uri="{FF2B5EF4-FFF2-40B4-BE49-F238E27FC236}">
                <a16:creationId xmlns:a16="http://schemas.microsoft.com/office/drawing/2014/main" id="{6AE40C68-0EB1-356F-15B4-871D2829A33A}"/>
              </a:ext>
            </a:extLst>
          </p:cNvPr>
          <p:cNvSpPr txBox="1"/>
          <p:nvPr/>
        </p:nvSpPr>
        <p:spPr>
          <a:xfrm>
            <a:off x="486918" y="3818835"/>
            <a:ext cx="6094476" cy="2585323"/>
          </a:xfrm>
          <a:prstGeom prst="rect">
            <a:avLst/>
          </a:prstGeom>
          <a:noFill/>
        </p:spPr>
        <p:txBody>
          <a:bodyPr wrap="square">
            <a:spAutoFit/>
          </a:bodyPr>
          <a:lstStyle/>
          <a:p>
            <a:pPr>
              <a:buNone/>
            </a:pPr>
            <a:r>
              <a:rPr lang="en-US" b="1" dirty="0"/>
              <a:t>IPv6: Future-Proof Protocol</a:t>
            </a:r>
          </a:p>
          <a:p>
            <a:pPr>
              <a:buFont typeface="Arial" panose="020B0604020202020204" pitchFamily="34" charset="0"/>
              <a:buChar char="•"/>
            </a:pPr>
            <a:r>
              <a:rPr lang="en-US" b="1" dirty="0"/>
              <a:t>Address Format:</a:t>
            </a:r>
            <a:r>
              <a:rPr lang="en-US" dirty="0"/>
              <a:t> 128-bit hexadecimal addresses (e.g., 2001:0db8:85a3::370:7334)</a:t>
            </a:r>
          </a:p>
          <a:p>
            <a:pPr>
              <a:buFont typeface="Arial" panose="020B0604020202020204" pitchFamily="34" charset="0"/>
              <a:buChar char="•"/>
            </a:pPr>
            <a:r>
              <a:rPr lang="en-US" b="1" dirty="0"/>
              <a:t>Address Space:</a:t>
            </a:r>
            <a:r>
              <a:rPr lang="en-US" dirty="0"/>
              <a:t> Vastly larger, effectively infinite (3.4 x 10^38 addresses)</a:t>
            </a:r>
          </a:p>
          <a:p>
            <a:pPr>
              <a:buFont typeface="Arial" panose="020B0604020202020204" pitchFamily="34" charset="0"/>
              <a:buChar char="•"/>
            </a:pPr>
            <a:r>
              <a:rPr lang="en-US" b="1" dirty="0"/>
              <a:t>Configuration:</a:t>
            </a:r>
            <a:r>
              <a:rPr lang="en-US" dirty="0"/>
              <a:t> Supports stateless auto-configuration (SLAAC)</a:t>
            </a:r>
          </a:p>
          <a:p>
            <a:pPr>
              <a:buFont typeface="Arial" panose="020B0604020202020204" pitchFamily="34" charset="0"/>
              <a:buChar char="•"/>
            </a:pPr>
            <a:r>
              <a:rPr lang="en-US" b="1" dirty="0"/>
              <a:t>Security:</a:t>
            </a:r>
            <a:r>
              <a:rPr lang="en-US" dirty="0"/>
              <a:t> IPsec built-in and mandatory for compliance</a:t>
            </a:r>
          </a:p>
          <a:p>
            <a:pPr>
              <a:buFont typeface="Arial" panose="020B0604020202020204" pitchFamily="34" charset="0"/>
              <a:buChar char="•"/>
            </a:pPr>
            <a:r>
              <a:rPr lang="en-US" b="1" dirty="0"/>
              <a:t>Features:</a:t>
            </a:r>
            <a:r>
              <a:rPr lang="en-US" dirty="0"/>
              <a:t> Improved routing efficiency, better multicast support</a:t>
            </a:r>
          </a:p>
        </p:txBody>
      </p:sp>
    </p:spTree>
    <p:extLst>
      <p:ext uri="{BB962C8B-B14F-4D97-AF65-F5344CB8AC3E}">
        <p14:creationId xmlns:p14="http://schemas.microsoft.com/office/powerpoint/2010/main" val="1039224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A93982-F3B7-DBA2-A910-FE8D379A75C9}"/>
              </a:ext>
            </a:extLst>
          </p:cNvPr>
          <p:cNvSpPr txBox="1"/>
          <p:nvPr/>
        </p:nvSpPr>
        <p:spPr>
          <a:xfrm>
            <a:off x="711201" y="540389"/>
            <a:ext cx="6096000" cy="646331"/>
          </a:xfrm>
          <a:prstGeom prst="rect">
            <a:avLst/>
          </a:prstGeom>
          <a:noFill/>
        </p:spPr>
        <p:txBody>
          <a:bodyPr wrap="square">
            <a:spAutoFit/>
          </a:bodyPr>
          <a:lstStyle/>
          <a:p>
            <a:pPr>
              <a:buNone/>
            </a:pPr>
            <a:r>
              <a:rPr lang="en-US" sz="3600" b="1" dirty="0"/>
              <a:t>What is Subnetting?</a:t>
            </a:r>
          </a:p>
        </p:txBody>
      </p:sp>
      <p:sp>
        <p:nvSpPr>
          <p:cNvPr id="7" name="TextBox 6">
            <a:extLst>
              <a:ext uri="{FF2B5EF4-FFF2-40B4-BE49-F238E27FC236}">
                <a16:creationId xmlns:a16="http://schemas.microsoft.com/office/drawing/2014/main" id="{6D162D91-35FD-8BED-A06D-340DE51C0E39}"/>
              </a:ext>
            </a:extLst>
          </p:cNvPr>
          <p:cNvSpPr txBox="1"/>
          <p:nvPr/>
        </p:nvSpPr>
        <p:spPr>
          <a:xfrm>
            <a:off x="711200" y="1464163"/>
            <a:ext cx="10926617" cy="923330"/>
          </a:xfrm>
          <a:prstGeom prst="rect">
            <a:avLst/>
          </a:prstGeom>
          <a:noFill/>
        </p:spPr>
        <p:txBody>
          <a:bodyPr wrap="square">
            <a:spAutoFit/>
          </a:bodyPr>
          <a:lstStyle/>
          <a:p>
            <a:pPr>
              <a:buNone/>
            </a:pPr>
            <a:r>
              <a:rPr lang="en-US" dirty="0"/>
              <a:t>Subnetting is the practice of dividing a larger network into smaller, more manageable subnetworks (subnets). This division allows for more efficient use of IP addresses, improved network performance, and enhanced security within an organization.</a:t>
            </a:r>
          </a:p>
        </p:txBody>
      </p:sp>
      <p:sp>
        <p:nvSpPr>
          <p:cNvPr id="9" name="TextBox 8">
            <a:extLst>
              <a:ext uri="{FF2B5EF4-FFF2-40B4-BE49-F238E27FC236}">
                <a16:creationId xmlns:a16="http://schemas.microsoft.com/office/drawing/2014/main" id="{0E07239B-0483-416F-BECF-77532D8D02FD}"/>
              </a:ext>
            </a:extLst>
          </p:cNvPr>
          <p:cNvSpPr txBox="1"/>
          <p:nvPr/>
        </p:nvSpPr>
        <p:spPr>
          <a:xfrm>
            <a:off x="858982" y="3699315"/>
            <a:ext cx="2780145" cy="2308324"/>
          </a:xfrm>
          <a:prstGeom prst="rect">
            <a:avLst/>
          </a:prstGeom>
          <a:noFill/>
        </p:spPr>
        <p:txBody>
          <a:bodyPr wrap="square">
            <a:spAutoFit/>
          </a:bodyPr>
          <a:lstStyle/>
          <a:p>
            <a:pPr>
              <a:buNone/>
            </a:pPr>
            <a:r>
              <a:rPr lang="en-US" dirty="0"/>
              <a:t>Subnetting logically splits a single network ID into multiple, smaller segments. This enables better organization of connected devices and more controlled routing of data traffic.</a:t>
            </a:r>
          </a:p>
        </p:txBody>
      </p:sp>
      <p:sp>
        <p:nvSpPr>
          <p:cNvPr id="11" name="TextBox 10">
            <a:extLst>
              <a:ext uri="{FF2B5EF4-FFF2-40B4-BE49-F238E27FC236}">
                <a16:creationId xmlns:a16="http://schemas.microsoft.com/office/drawing/2014/main" id="{7F18E7FA-2944-0443-7071-C8704414EFA0}"/>
              </a:ext>
            </a:extLst>
          </p:cNvPr>
          <p:cNvSpPr txBox="1"/>
          <p:nvPr/>
        </p:nvSpPr>
        <p:spPr>
          <a:xfrm>
            <a:off x="8248072" y="3699315"/>
            <a:ext cx="2918691" cy="2308324"/>
          </a:xfrm>
          <a:prstGeom prst="rect">
            <a:avLst/>
          </a:prstGeom>
          <a:noFill/>
        </p:spPr>
        <p:txBody>
          <a:bodyPr wrap="square">
            <a:spAutoFit/>
          </a:bodyPr>
          <a:lstStyle/>
          <a:p>
            <a:r>
              <a:rPr lang="en-US" dirty="0"/>
              <a:t>A critical component, the subnet mask, works with an IP address to differentiate the network portion from the host portion. It dictates how large each subnet is and how many hosts it can accommodate.</a:t>
            </a:r>
          </a:p>
        </p:txBody>
      </p:sp>
      <p:sp>
        <p:nvSpPr>
          <p:cNvPr id="13" name="TextBox 12">
            <a:extLst>
              <a:ext uri="{FF2B5EF4-FFF2-40B4-BE49-F238E27FC236}">
                <a16:creationId xmlns:a16="http://schemas.microsoft.com/office/drawing/2014/main" id="{9AC16EF4-A656-94A8-7689-9847B372053E}"/>
              </a:ext>
            </a:extLst>
          </p:cNvPr>
          <p:cNvSpPr txBox="1"/>
          <p:nvPr/>
        </p:nvSpPr>
        <p:spPr>
          <a:xfrm>
            <a:off x="4553526" y="3699315"/>
            <a:ext cx="2918691" cy="2308324"/>
          </a:xfrm>
          <a:prstGeom prst="rect">
            <a:avLst/>
          </a:prstGeom>
          <a:noFill/>
        </p:spPr>
        <p:txBody>
          <a:bodyPr wrap="square">
            <a:spAutoFit/>
          </a:bodyPr>
          <a:lstStyle/>
          <a:p>
            <a:pPr>
              <a:buNone/>
            </a:pPr>
            <a:r>
              <a:rPr lang="en-US" dirty="0"/>
              <a:t>It reduces network congestion by localizing traffic within its respective subnet. This minimizes the broadcast domain, leading to faster data processing and improved network responsiveness.</a:t>
            </a:r>
          </a:p>
        </p:txBody>
      </p:sp>
      <p:sp>
        <p:nvSpPr>
          <p:cNvPr id="15" name="TextBox 14">
            <a:extLst>
              <a:ext uri="{FF2B5EF4-FFF2-40B4-BE49-F238E27FC236}">
                <a16:creationId xmlns:a16="http://schemas.microsoft.com/office/drawing/2014/main" id="{20E0055C-6847-1D81-F95F-1D5E302DB6D3}"/>
              </a:ext>
            </a:extLst>
          </p:cNvPr>
          <p:cNvSpPr txBox="1"/>
          <p:nvPr/>
        </p:nvSpPr>
        <p:spPr>
          <a:xfrm>
            <a:off x="858982" y="3158685"/>
            <a:ext cx="6096000" cy="369332"/>
          </a:xfrm>
          <a:prstGeom prst="rect">
            <a:avLst/>
          </a:prstGeom>
          <a:noFill/>
        </p:spPr>
        <p:txBody>
          <a:bodyPr wrap="square">
            <a:spAutoFit/>
          </a:bodyPr>
          <a:lstStyle/>
          <a:p>
            <a:pPr>
              <a:buNone/>
            </a:pPr>
            <a:r>
              <a:rPr lang="en-US" b="1" dirty="0"/>
              <a:t>1. Logical Division</a:t>
            </a:r>
          </a:p>
        </p:txBody>
      </p:sp>
      <p:sp>
        <p:nvSpPr>
          <p:cNvPr id="17" name="TextBox 16">
            <a:extLst>
              <a:ext uri="{FF2B5EF4-FFF2-40B4-BE49-F238E27FC236}">
                <a16:creationId xmlns:a16="http://schemas.microsoft.com/office/drawing/2014/main" id="{ECA2466F-306D-B7BE-A65E-E728D769E9A4}"/>
              </a:ext>
            </a:extLst>
          </p:cNvPr>
          <p:cNvSpPr txBox="1"/>
          <p:nvPr/>
        </p:nvSpPr>
        <p:spPr>
          <a:xfrm>
            <a:off x="4553526" y="3158685"/>
            <a:ext cx="6096000" cy="369332"/>
          </a:xfrm>
          <a:prstGeom prst="rect">
            <a:avLst/>
          </a:prstGeom>
          <a:noFill/>
        </p:spPr>
        <p:txBody>
          <a:bodyPr wrap="square">
            <a:spAutoFit/>
          </a:bodyPr>
          <a:lstStyle/>
          <a:p>
            <a:pPr>
              <a:buNone/>
            </a:pPr>
            <a:r>
              <a:rPr lang="en-US" b="1" dirty="0"/>
              <a:t>2. Enhanced Efficiency</a:t>
            </a:r>
          </a:p>
        </p:txBody>
      </p:sp>
      <p:sp>
        <p:nvSpPr>
          <p:cNvPr id="19" name="TextBox 18">
            <a:extLst>
              <a:ext uri="{FF2B5EF4-FFF2-40B4-BE49-F238E27FC236}">
                <a16:creationId xmlns:a16="http://schemas.microsoft.com/office/drawing/2014/main" id="{3EEFF4FF-9218-72D3-451A-F97D02177E3B}"/>
              </a:ext>
            </a:extLst>
          </p:cNvPr>
          <p:cNvSpPr txBox="1"/>
          <p:nvPr/>
        </p:nvSpPr>
        <p:spPr>
          <a:xfrm>
            <a:off x="8285018" y="3158685"/>
            <a:ext cx="6096000" cy="369332"/>
          </a:xfrm>
          <a:prstGeom prst="rect">
            <a:avLst/>
          </a:prstGeom>
          <a:noFill/>
        </p:spPr>
        <p:txBody>
          <a:bodyPr wrap="square">
            <a:spAutoFit/>
          </a:bodyPr>
          <a:lstStyle/>
          <a:p>
            <a:pPr>
              <a:buNone/>
            </a:pPr>
            <a:r>
              <a:rPr lang="en-US" b="1" dirty="0"/>
              <a:t>3. Subnet Mask</a:t>
            </a:r>
          </a:p>
        </p:txBody>
      </p:sp>
    </p:spTree>
    <p:extLst>
      <p:ext uri="{BB962C8B-B14F-4D97-AF65-F5344CB8AC3E}">
        <p14:creationId xmlns:p14="http://schemas.microsoft.com/office/powerpoint/2010/main" val="3676486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EE52C2-8538-8273-B8A6-681483F35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334000" cy="6858000"/>
          </a:xfrm>
          <a:prstGeom prst="rect">
            <a:avLst/>
          </a:prstGeom>
        </p:spPr>
      </p:pic>
      <p:sp>
        <p:nvSpPr>
          <p:cNvPr id="7" name="TextBox 6">
            <a:extLst>
              <a:ext uri="{FF2B5EF4-FFF2-40B4-BE49-F238E27FC236}">
                <a16:creationId xmlns:a16="http://schemas.microsoft.com/office/drawing/2014/main" id="{91B5D30B-86DD-3711-F601-6EBE14455F0D}"/>
              </a:ext>
            </a:extLst>
          </p:cNvPr>
          <p:cNvSpPr txBox="1"/>
          <p:nvPr/>
        </p:nvSpPr>
        <p:spPr>
          <a:xfrm>
            <a:off x="5689600" y="281771"/>
            <a:ext cx="6096000" cy="1323439"/>
          </a:xfrm>
          <a:prstGeom prst="rect">
            <a:avLst/>
          </a:prstGeom>
          <a:noFill/>
        </p:spPr>
        <p:txBody>
          <a:bodyPr wrap="square">
            <a:spAutoFit/>
          </a:bodyPr>
          <a:lstStyle/>
          <a:p>
            <a:pPr>
              <a:buNone/>
            </a:pPr>
            <a:r>
              <a:rPr lang="en-US" sz="4000" b="1" dirty="0"/>
              <a:t>Network Address Translation (NAT)</a:t>
            </a:r>
          </a:p>
        </p:txBody>
      </p:sp>
      <p:sp>
        <p:nvSpPr>
          <p:cNvPr id="9" name="TextBox 8">
            <a:extLst>
              <a:ext uri="{FF2B5EF4-FFF2-40B4-BE49-F238E27FC236}">
                <a16:creationId xmlns:a16="http://schemas.microsoft.com/office/drawing/2014/main" id="{3A9393AF-418E-4F84-3DFF-BC5C5C119E48}"/>
              </a:ext>
            </a:extLst>
          </p:cNvPr>
          <p:cNvSpPr txBox="1"/>
          <p:nvPr/>
        </p:nvSpPr>
        <p:spPr>
          <a:xfrm>
            <a:off x="5689600" y="1833663"/>
            <a:ext cx="6096000" cy="1477328"/>
          </a:xfrm>
          <a:prstGeom prst="rect">
            <a:avLst/>
          </a:prstGeom>
          <a:noFill/>
        </p:spPr>
        <p:txBody>
          <a:bodyPr wrap="square">
            <a:spAutoFit/>
          </a:bodyPr>
          <a:lstStyle/>
          <a:p>
            <a:pPr>
              <a:buNone/>
            </a:pPr>
            <a:r>
              <a:rPr lang="en-US" dirty="0"/>
              <a:t>Network Address Translation (NAT) is a method of remapping an IP address space into another by modifying network address information in the IP header of packets while they are in transit across a traffic routing device. It's crucial for both IP conservation and network security.</a:t>
            </a:r>
          </a:p>
        </p:txBody>
      </p:sp>
      <p:sp>
        <p:nvSpPr>
          <p:cNvPr id="11" name="TextBox 10">
            <a:extLst>
              <a:ext uri="{FF2B5EF4-FFF2-40B4-BE49-F238E27FC236}">
                <a16:creationId xmlns:a16="http://schemas.microsoft.com/office/drawing/2014/main" id="{4CF1A9D5-05EE-C308-E180-8D9B0A892DFA}"/>
              </a:ext>
            </a:extLst>
          </p:cNvPr>
          <p:cNvSpPr txBox="1"/>
          <p:nvPr/>
        </p:nvSpPr>
        <p:spPr>
          <a:xfrm>
            <a:off x="5791200" y="4296411"/>
            <a:ext cx="2382980" cy="2308324"/>
          </a:xfrm>
          <a:prstGeom prst="rect">
            <a:avLst/>
          </a:prstGeom>
          <a:noFill/>
        </p:spPr>
        <p:txBody>
          <a:bodyPr wrap="square">
            <a:spAutoFit/>
          </a:bodyPr>
          <a:lstStyle/>
          <a:p>
            <a:pPr>
              <a:buNone/>
            </a:pPr>
            <a:r>
              <a:rPr lang="en-US" dirty="0"/>
              <a:t>Allows multiple devices on a private network to share a single public IP address for external communication, effectively delaying IPv4 address exhaustion.</a:t>
            </a:r>
          </a:p>
        </p:txBody>
      </p:sp>
      <p:sp>
        <p:nvSpPr>
          <p:cNvPr id="13" name="TextBox 12">
            <a:extLst>
              <a:ext uri="{FF2B5EF4-FFF2-40B4-BE49-F238E27FC236}">
                <a16:creationId xmlns:a16="http://schemas.microsoft.com/office/drawing/2014/main" id="{DF95FDD2-6C34-0E89-43DD-268CD7E30E04}"/>
              </a:ext>
            </a:extLst>
          </p:cNvPr>
          <p:cNvSpPr txBox="1"/>
          <p:nvPr/>
        </p:nvSpPr>
        <p:spPr>
          <a:xfrm>
            <a:off x="9402619" y="4296411"/>
            <a:ext cx="2382981" cy="2308324"/>
          </a:xfrm>
          <a:prstGeom prst="rect">
            <a:avLst/>
          </a:prstGeom>
          <a:noFill/>
        </p:spPr>
        <p:txBody>
          <a:bodyPr wrap="square">
            <a:spAutoFit/>
          </a:bodyPr>
          <a:lstStyle/>
          <a:p>
            <a:pPr>
              <a:buNone/>
            </a:pPr>
            <a:r>
              <a:rPr lang="en-US" dirty="0"/>
              <a:t>By hiding internal network topologies and private IP addresses from external networks, NAT adds a significant layer of security against direct attacks.</a:t>
            </a:r>
          </a:p>
        </p:txBody>
      </p:sp>
      <p:sp>
        <p:nvSpPr>
          <p:cNvPr id="15" name="TextBox 14">
            <a:extLst>
              <a:ext uri="{FF2B5EF4-FFF2-40B4-BE49-F238E27FC236}">
                <a16:creationId xmlns:a16="http://schemas.microsoft.com/office/drawing/2014/main" id="{C80343B7-D25F-6478-F8FB-30F66E570A05}"/>
              </a:ext>
            </a:extLst>
          </p:cNvPr>
          <p:cNvSpPr txBox="1"/>
          <p:nvPr/>
        </p:nvSpPr>
        <p:spPr>
          <a:xfrm>
            <a:off x="5791200" y="3828534"/>
            <a:ext cx="6096000" cy="369332"/>
          </a:xfrm>
          <a:prstGeom prst="rect">
            <a:avLst/>
          </a:prstGeom>
          <a:noFill/>
        </p:spPr>
        <p:txBody>
          <a:bodyPr wrap="square">
            <a:spAutoFit/>
          </a:bodyPr>
          <a:lstStyle/>
          <a:p>
            <a:pPr>
              <a:buNone/>
            </a:pPr>
            <a:r>
              <a:rPr lang="en-US" b="1" dirty="0"/>
              <a:t>IP Address Conservation</a:t>
            </a:r>
          </a:p>
        </p:txBody>
      </p:sp>
      <p:sp>
        <p:nvSpPr>
          <p:cNvPr id="17" name="TextBox 16">
            <a:extLst>
              <a:ext uri="{FF2B5EF4-FFF2-40B4-BE49-F238E27FC236}">
                <a16:creationId xmlns:a16="http://schemas.microsoft.com/office/drawing/2014/main" id="{9E1658CF-3B3E-B8C4-F742-F616B57CA912}"/>
              </a:ext>
            </a:extLst>
          </p:cNvPr>
          <p:cNvSpPr txBox="1"/>
          <p:nvPr/>
        </p:nvSpPr>
        <p:spPr>
          <a:xfrm>
            <a:off x="9402619" y="3828534"/>
            <a:ext cx="6096000" cy="369332"/>
          </a:xfrm>
          <a:prstGeom prst="rect">
            <a:avLst/>
          </a:prstGeom>
          <a:noFill/>
        </p:spPr>
        <p:txBody>
          <a:bodyPr wrap="square">
            <a:spAutoFit/>
          </a:bodyPr>
          <a:lstStyle/>
          <a:p>
            <a:pPr>
              <a:buNone/>
            </a:pPr>
            <a:r>
              <a:rPr lang="en-US" b="1" dirty="0"/>
              <a:t>Enhanced Security</a:t>
            </a:r>
          </a:p>
        </p:txBody>
      </p:sp>
    </p:spTree>
    <p:extLst>
      <p:ext uri="{BB962C8B-B14F-4D97-AF65-F5344CB8AC3E}">
        <p14:creationId xmlns:p14="http://schemas.microsoft.com/office/powerpoint/2010/main" val="2929015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369</Words>
  <Application>Microsoft Office PowerPoint</Application>
  <PresentationFormat>Widescreen</PresentationFormat>
  <Paragraphs>27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Kumar</dc:creator>
  <cp:lastModifiedBy>Amit Kumar</cp:lastModifiedBy>
  <cp:revision>1</cp:revision>
  <dcterms:created xsi:type="dcterms:W3CDTF">2025-12-11T10:40:30Z</dcterms:created>
  <dcterms:modified xsi:type="dcterms:W3CDTF">2025-12-11T10:41:07Z</dcterms:modified>
</cp:coreProperties>
</file>