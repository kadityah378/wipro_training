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9" d="100"/>
          <a:sy n="69" d="100"/>
        </p:scale>
        <p:origin x="56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9:36:13.557"/>
    </inkml:context>
    <inkml:brush xml:id="br0">
      <inkml:brushProperty name="width" value="0.035" units="cm"/>
      <inkml:brushProperty name="height" value="0.035" units="cm"/>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9:36:37.377"/>
    </inkml:context>
    <inkml:brush xml:id="br0">
      <inkml:brushProperty name="width" value="0.035" units="cm"/>
      <inkml:brushProperty name="height" value="0.035" units="cm"/>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9:36:45.547"/>
    </inkml:context>
    <inkml:brush xml:id="br0">
      <inkml:brushProperty name="width" value="0.035" units="cm"/>
      <inkml:brushProperty name="height" value="0.035" units="cm"/>
    </inkml:brush>
  </inkml:definitions>
  <inkml:trace contextRef="#ctx0" brushRef="#br0">0 0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F87B377-0FB7-4B4C-852B-8F85FAEB9E31}"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B334C-2DE0-492A-B413-4C9BCE900A5C}" type="slidenum">
              <a:rPr lang="en-US" smtClean="0"/>
              <a:t>‹#›</a:t>
            </a:fld>
            <a:endParaRPr lang="en-US"/>
          </a:p>
        </p:txBody>
      </p:sp>
    </p:spTree>
    <p:extLst>
      <p:ext uri="{BB962C8B-B14F-4D97-AF65-F5344CB8AC3E}">
        <p14:creationId xmlns:p14="http://schemas.microsoft.com/office/powerpoint/2010/main" val="228993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87B377-0FB7-4B4C-852B-8F85FAEB9E31}"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B334C-2DE0-492A-B413-4C9BCE900A5C}" type="slidenum">
              <a:rPr lang="en-US" smtClean="0"/>
              <a:t>‹#›</a:t>
            </a:fld>
            <a:endParaRPr lang="en-US"/>
          </a:p>
        </p:txBody>
      </p:sp>
    </p:spTree>
    <p:extLst>
      <p:ext uri="{BB962C8B-B14F-4D97-AF65-F5344CB8AC3E}">
        <p14:creationId xmlns:p14="http://schemas.microsoft.com/office/powerpoint/2010/main" val="2876051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87B377-0FB7-4B4C-852B-8F85FAEB9E31}"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B334C-2DE0-492A-B413-4C9BCE900A5C}" type="slidenum">
              <a:rPr lang="en-US" smtClean="0"/>
              <a:t>‹#›</a:t>
            </a:fld>
            <a:endParaRPr lang="en-US"/>
          </a:p>
        </p:txBody>
      </p:sp>
    </p:spTree>
    <p:extLst>
      <p:ext uri="{BB962C8B-B14F-4D97-AF65-F5344CB8AC3E}">
        <p14:creationId xmlns:p14="http://schemas.microsoft.com/office/powerpoint/2010/main" val="3520260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87B377-0FB7-4B4C-852B-8F85FAEB9E31}"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2B334C-2DE0-492A-B413-4C9BCE900A5C}" type="slidenum">
              <a:rPr lang="en-US" smtClean="0"/>
              <a:t>‹#›</a:t>
            </a:fld>
            <a:endParaRPr lang="en-US"/>
          </a:p>
        </p:txBody>
      </p:sp>
    </p:spTree>
    <p:extLst>
      <p:ext uri="{BB962C8B-B14F-4D97-AF65-F5344CB8AC3E}">
        <p14:creationId xmlns:p14="http://schemas.microsoft.com/office/powerpoint/2010/main" val="1122097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87B377-0FB7-4B4C-852B-8F85FAEB9E31}" type="datetimeFigureOut">
              <a:rPr lang="en-US" smtClean="0"/>
              <a:t>12/11/2025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2B334C-2DE0-492A-B413-4C9BCE900A5C}" type="slidenum">
              <a:rPr lang="en-US" smtClean="0"/>
              <a:t>‹#›</a:t>
            </a:fld>
            <a:endParaRPr lang="en-US"/>
          </a:p>
        </p:txBody>
      </p:sp>
    </p:spTree>
    <p:extLst>
      <p:ext uri="{BB962C8B-B14F-4D97-AF65-F5344CB8AC3E}">
        <p14:creationId xmlns:p14="http://schemas.microsoft.com/office/powerpoint/2010/main" val="3092648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F87B377-0FB7-4B4C-852B-8F85FAEB9E31}" type="datetimeFigureOut">
              <a:rPr lang="en-US" smtClean="0"/>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2B334C-2DE0-492A-B413-4C9BCE900A5C}" type="slidenum">
              <a:rPr lang="en-US" smtClean="0"/>
              <a:t>‹#›</a:t>
            </a:fld>
            <a:endParaRPr lang="en-US"/>
          </a:p>
        </p:txBody>
      </p:sp>
    </p:spTree>
    <p:extLst>
      <p:ext uri="{BB962C8B-B14F-4D97-AF65-F5344CB8AC3E}">
        <p14:creationId xmlns:p14="http://schemas.microsoft.com/office/powerpoint/2010/main" val="3228465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87B377-0FB7-4B4C-852B-8F85FAEB9E31}" type="datetimeFigureOut">
              <a:rPr lang="en-US" smtClean="0"/>
              <a:t>12/11/2025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2B334C-2DE0-492A-B413-4C9BCE900A5C}" type="slidenum">
              <a:rPr lang="en-US" smtClean="0"/>
              <a:t>‹#›</a:t>
            </a:fld>
            <a:endParaRPr lang="en-US"/>
          </a:p>
        </p:txBody>
      </p:sp>
    </p:spTree>
    <p:extLst>
      <p:ext uri="{BB962C8B-B14F-4D97-AF65-F5344CB8AC3E}">
        <p14:creationId xmlns:p14="http://schemas.microsoft.com/office/powerpoint/2010/main" val="3420576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F87B377-0FB7-4B4C-852B-8F85FAEB9E31}"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2B334C-2DE0-492A-B413-4C9BCE900A5C}" type="slidenum">
              <a:rPr lang="en-US" smtClean="0"/>
              <a:t>‹#›</a:t>
            </a:fld>
            <a:endParaRPr lang="en-US"/>
          </a:p>
        </p:txBody>
      </p:sp>
    </p:spTree>
    <p:extLst>
      <p:ext uri="{BB962C8B-B14F-4D97-AF65-F5344CB8AC3E}">
        <p14:creationId xmlns:p14="http://schemas.microsoft.com/office/powerpoint/2010/main" val="2976781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F87B377-0FB7-4B4C-852B-8F85FAEB9E31}"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2B334C-2DE0-492A-B413-4C9BCE900A5C}" type="slidenum">
              <a:rPr lang="en-US" smtClean="0"/>
              <a:t>‹#›</a:t>
            </a:fld>
            <a:endParaRPr lang="en-US"/>
          </a:p>
        </p:txBody>
      </p:sp>
    </p:spTree>
    <p:extLst>
      <p:ext uri="{BB962C8B-B14F-4D97-AF65-F5344CB8AC3E}">
        <p14:creationId xmlns:p14="http://schemas.microsoft.com/office/powerpoint/2010/main" val="3601888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87B377-0FB7-4B4C-852B-8F85FAEB9E31}"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B334C-2DE0-492A-B413-4C9BCE900A5C}" type="slidenum">
              <a:rPr lang="en-US" smtClean="0"/>
              <a:t>‹#›</a:t>
            </a:fld>
            <a:endParaRPr lang="en-US"/>
          </a:p>
        </p:txBody>
      </p:sp>
    </p:spTree>
    <p:extLst>
      <p:ext uri="{BB962C8B-B14F-4D97-AF65-F5344CB8AC3E}">
        <p14:creationId xmlns:p14="http://schemas.microsoft.com/office/powerpoint/2010/main" val="2052331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87B377-0FB7-4B4C-852B-8F85FAEB9E31}"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B334C-2DE0-492A-B413-4C9BCE900A5C}" type="slidenum">
              <a:rPr lang="en-US" smtClean="0"/>
              <a:t>‹#›</a:t>
            </a:fld>
            <a:endParaRPr lang="en-US"/>
          </a:p>
        </p:txBody>
      </p:sp>
    </p:spTree>
    <p:extLst>
      <p:ext uri="{BB962C8B-B14F-4D97-AF65-F5344CB8AC3E}">
        <p14:creationId xmlns:p14="http://schemas.microsoft.com/office/powerpoint/2010/main" val="658358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87B377-0FB7-4B4C-852B-8F85FAEB9E31}" type="datetimeFigureOut">
              <a:rPr lang="en-US" smtClean="0"/>
              <a:t>12/11/2025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2B334C-2DE0-492A-B413-4C9BCE900A5C}" type="slidenum">
              <a:rPr lang="en-US" smtClean="0"/>
              <a:t>‹#›</a:t>
            </a:fld>
            <a:endParaRPr lang="en-US"/>
          </a:p>
        </p:txBody>
      </p:sp>
    </p:spTree>
    <p:extLst>
      <p:ext uri="{BB962C8B-B14F-4D97-AF65-F5344CB8AC3E}">
        <p14:creationId xmlns:p14="http://schemas.microsoft.com/office/powerpoint/2010/main" val="162459091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customXml" Target="../ink/ink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147932-8C4F-56D3-30D1-B77773DBC0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9440" y="0"/>
            <a:ext cx="5334000" cy="6858000"/>
          </a:xfrm>
          <a:prstGeom prst="rect">
            <a:avLst/>
          </a:prstGeom>
        </p:spPr>
      </p:pic>
      <p:sp>
        <p:nvSpPr>
          <p:cNvPr id="7" name="TextBox 6">
            <a:extLst>
              <a:ext uri="{FF2B5EF4-FFF2-40B4-BE49-F238E27FC236}">
                <a16:creationId xmlns:a16="http://schemas.microsoft.com/office/drawing/2014/main" id="{38A6CA6D-D21B-E1A2-DD19-F2C20EB383DF}"/>
              </a:ext>
            </a:extLst>
          </p:cNvPr>
          <p:cNvSpPr txBox="1"/>
          <p:nvPr/>
        </p:nvSpPr>
        <p:spPr>
          <a:xfrm>
            <a:off x="1353127" y="660461"/>
            <a:ext cx="6142182" cy="923330"/>
          </a:xfrm>
          <a:prstGeom prst="rect">
            <a:avLst/>
          </a:prstGeom>
          <a:noFill/>
        </p:spPr>
        <p:txBody>
          <a:bodyPr wrap="square">
            <a:spAutoFit/>
          </a:bodyPr>
          <a:lstStyle/>
          <a:p>
            <a:pPr>
              <a:buNone/>
            </a:pPr>
            <a:r>
              <a:rPr lang="en-US" sz="5400" b="1" dirty="0"/>
              <a:t>Networking</a:t>
            </a:r>
          </a:p>
        </p:txBody>
      </p:sp>
      <p:sp>
        <p:nvSpPr>
          <p:cNvPr id="9" name="TextBox 8">
            <a:extLst>
              <a:ext uri="{FF2B5EF4-FFF2-40B4-BE49-F238E27FC236}">
                <a16:creationId xmlns:a16="http://schemas.microsoft.com/office/drawing/2014/main" id="{A25E706D-E67F-9FAE-652A-550466D356F5}"/>
              </a:ext>
            </a:extLst>
          </p:cNvPr>
          <p:cNvSpPr txBox="1"/>
          <p:nvPr/>
        </p:nvSpPr>
        <p:spPr>
          <a:xfrm>
            <a:off x="304800" y="1759865"/>
            <a:ext cx="6391563" cy="1323439"/>
          </a:xfrm>
          <a:prstGeom prst="rect">
            <a:avLst/>
          </a:prstGeom>
          <a:noFill/>
        </p:spPr>
        <p:txBody>
          <a:bodyPr wrap="square">
            <a:spAutoFit/>
          </a:bodyPr>
          <a:lstStyle/>
          <a:p>
            <a:pPr>
              <a:buNone/>
            </a:pPr>
            <a:r>
              <a:rPr lang="en-US" sz="2000" dirty="0"/>
              <a:t>Networking refers to the practice of connecting two or more computers or devices so they can share data, resources, and information. It allows communication between systems through wired or wireless connections.</a:t>
            </a:r>
          </a:p>
        </p:txBody>
      </p:sp>
      <p:sp>
        <p:nvSpPr>
          <p:cNvPr id="11" name="TextBox 10">
            <a:extLst>
              <a:ext uri="{FF2B5EF4-FFF2-40B4-BE49-F238E27FC236}">
                <a16:creationId xmlns:a16="http://schemas.microsoft.com/office/drawing/2014/main" id="{9448D04A-BDDC-1657-23E6-D2F93437C5E7}"/>
              </a:ext>
            </a:extLst>
          </p:cNvPr>
          <p:cNvSpPr txBox="1"/>
          <p:nvPr/>
        </p:nvSpPr>
        <p:spPr>
          <a:xfrm>
            <a:off x="304800" y="3482231"/>
            <a:ext cx="6548582" cy="2585323"/>
          </a:xfrm>
          <a:prstGeom prst="rect">
            <a:avLst/>
          </a:prstGeom>
          <a:noFill/>
        </p:spPr>
        <p:txBody>
          <a:bodyPr wrap="square">
            <a:spAutoFit/>
          </a:bodyPr>
          <a:lstStyle/>
          <a:p>
            <a:pPr>
              <a:buNone/>
            </a:pPr>
            <a:r>
              <a:rPr lang="en-US" b="1" dirty="0"/>
              <a:t>Importance of Networking</a:t>
            </a:r>
          </a:p>
          <a:p>
            <a:pPr>
              <a:buNone/>
            </a:pPr>
            <a:endParaRPr lang="en-US" b="1" dirty="0"/>
          </a:p>
          <a:p>
            <a:r>
              <a:rPr lang="en-US" dirty="0"/>
              <a:t>1. Enables data sharing between devices</a:t>
            </a:r>
          </a:p>
          <a:p>
            <a:pPr>
              <a:buFont typeface="Arial" panose="020B0604020202020204" pitchFamily="34" charset="0"/>
              <a:buChar char="•"/>
            </a:pPr>
            <a:endParaRPr lang="en-US" dirty="0"/>
          </a:p>
          <a:p>
            <a:r>
              <a:rPr lang="en-US" dirty="0"/>
              <a:t>2. Allows resource sharing (printers, files, applications)</a:t>
            </a:r>
          </a:p>
          <a:p>
            <a:pPr>
              <a:buFont typeface="Arial" panose="020B0604020202020204" pitchFamily="34" charset="0"/>
              <a:buChar char="•"/>
            </a:pPr>
            <a:endParaRPr lang="en-US" dirty="0"/>
          </a:p>
          <a:p>
            <a:r>
              <a:rPr lang="en-US" dirty="0"/>
              <a:t>3. Supports communication (emails, messaging, video calls)</a:t>
            </a:r>
          </a:p>
          <a:p>
            <a:pPr>
              <a:buFont typeface="Arial" panose="020B0604020202020204" pitchFamily="34" charset="0"/>
              <a:buChar char="•"/>
            </a:pPr>
            <a:endParaRPr lang="en-US" dirty="0"/>
          </a:p>
          <a:p>
            <a:r>
              <a:rPr lang="en-US" dirty="0"/>
              <a:t>4. Helps in business operations, cloud services, and the internet</a:t>
            </a:r>
          </a:p>
        </p:txBody>
      </p:sp>
      <mc:AlternateContent xmlns:mc="http://schemas.openxmlformats.org/markup-compatibility/2006">
        <mc:Choice xmlns:p14="http://schemas.microsoft.com/office/powerpoint/2010/main" Requires="p14">
          <p:contentPart p14:bwMode="auto" r:id="rId3">
            <p14:nvContentPartPr>
              <p14:cNvPr id="12" name="Ink 11">
                <a:extLst>
                  <a:ext uri="{FF2B5EF4-FFF2-40B4-BE49-F238E27FC236}">
                    <a16:creationId xmlns:a16="http://schemas.microsoft.com/office/drawing/2014/main" id="{6E15CA79-9596-AF35-92D2-8E1E9E20B333}"/>
                  </a:ext>
                </a:extLst>
              </p14:cNvPr>
              <p14:cNvContentPartPr/>
              <p14:nvPr/>
            </p14:nvContentPartPr>
            <p14:xfrm>
              <a:off x="683073" y="415382"/>
              <a:ext cx="360" cy="360"/>
            </p14:xfrm>
          </p:contentPart>
        </mc:Choice>
        <mc:Fallback>
          <p:pic>
            <p:nvPicPr>
              <p:cNvPr id="12" name="Ink 11">
                <a:extLst>
                  <a:ext uri="{FF2B5EF4-FFF2-40B4-BE49-F238E27FC236}">
                    <a16:creationId xmlns:a16="http://schemas.microsoft.com/office/drawing/2014/main" id="{6E15CA79-9596-AF35-92D2-8E1E9E20B333}"/>
                  </a:ext>
                </a:extLst>
              </p:cNvPr>
              <p:cNvPicPr/>
              <p:nvPr/>
            </p:nvPicPr>
            <p:blipFill>
              <a:blip r:embed="rId4"/>
              <a:stretch>
                <a:fillRect/>
              </a:stretch>
            </p:blipFill>
            <p:spPr>
              <a:xfrm>
                <a:off x="676953" y="409262"/>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3" name="Ink 12">
                <a:extLst>
                  <a:ext uri="{FF2B5EF4-FFF2-40B4-BE49-F238E27FC236}">
                    <a16:creationId xmlns:a16="http://schemas.microsoft.com/office/drawing/2014/main" id="{8C115712-EDFF-4A1A-789F-19471CEA69C4}"/>
                  </a:ext>
                </a:extLst>
              </p14:cNvPr>
              <p14:cNvContentPartPr/>
              <p14:nvPr/>
            </p14:nvContentPartPr>
            <p14:xfrm>
              <a:off x="-942327" y="766382"/>
              <a:ext cx="360" cy="360"/>
            </p14:xfrm>
          </p:contentPart>
        </mc:Choice>
        <mc:Fallback>
          <p:pic>
            <p:nvPicPr>
              <p:cNvPr id="13" name="Ink 12">
                <a:extLst>
                  <a:ext uri="{FF2B5EF4-FFF2-40B4-BE49-F238E27FC236}">
                    <a16:creationId xmlns:a16="http://schemas.microsoft.com/office/drawing/2014/main" id="{8C115712-EDFF-4A1A-789F-19471CEA69C4}"/>
                  </a:ext>
                </a:extLst>
              </p:cNvPr>
              <p:cNvPicPr/>
              <p:nvPr/>
            </p:nvPicPr>
            <p:blipFill>
              <a:blip r:embed="rId4"/>
              <a:stretch>
                <a:fillRect/>
              </a:stretch>
            </p:blipFill>
            <p:spPr>
              <a:xfrm>
                <a:off x="-948447" y="760262"/>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4" name="Ink 13">
                <a:extLst>
                  <a:ext uri="{FF2B5EF4-FFF2-40B4-BE49-F238E27FC236}">
                    <a16:creationId xmlns:a16="http://schemas.microsoft.com/office/drawing/2014/main" id="{93B4C6A7-96FB-5023-82BA-744DDB2F4468}"/>
                  </a:ext>
                </a:extLst>
              </p14:cNvPr>
              <p14:cNvContentPartPr/>
              <p14:nvPr/>
            </p14:nvContentPartPr>
            <p14:xfrm>
              <a:off x="-295407" y="1255982"/>
              <a:ext cx="360" cy="360"/>
            </p14:xfrm>
          </p:contentPart>
        </mc:Choice>
        <mc:Fallback>
          <p:pic>
            <p:nvPicPr>
              <p:cNvPr id="14" name="Ink 13">
                <a:extLst>
                  <a:ext uri="{FF2B5EF4-FFF2-40B4-BE49-F238E27FC236}">
                    <a16:creationId xmlns:a16="http://schemas.microsoft.com/office/drawing/2014/main" id="{93B4C6A7-96FB-5023-82BA-744DDB2F4468}"/>
                  </a:ext>
                </a:extLst>
              </p:cNvPr>
              <p:cNvPicPr/>
              <p:nvPr/>
            </p:nvPicPr>
            <p:blipFill>
              <a:blip r:embed="rId4"/>
              <a:stretch>
                <a:fillRect/>
              </a:stretch>
            </p:blipFill>
            <p:spPr>
              <a:xfrm>
                <a:off x="-301527" y="1249862"/>
                <a:ext cx="12600" cy="12600"/>
              </a:xfrm>
              <a:prstGeom prst="rect">
                <a:avLst/>
              </a:prstGeom>
            </p:spPr>
          </p:pic>
        </mc:Fallback>
      </mc:AlternateContent>
    </p:spTree>
    <p:extLst>
      <p:ext uri="{BB962C8B-B14F-4D97-AF65-F5344CB8AC3E}">
        <p14:creationId xmlns:p14="http://schemas.microsoft.com/office/powerpoint/2010/main" val="478824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9D0067B-82E8-7856-3947-7FCBF14A9C2F}"/>
              </a:ext>
            </a:extLst>
          </p:cNvPr>
          <p:cNvSpPr txBox="1"/>
          <p:nvPr/>
        </p:nvSpPr>
        <p:spPr>
          <a:xfrm>
            <a:off x="653473" y="422625"/>
            <a:ext cx="6096000" cy="523220"/>
          </a:xfrm>
          <a:prstGeom prst="rect">
            <a:avLst/>
          </a:prstGeom>
          <a:noFill/>
        </p:spPr>
        <p:txBody>
          <a:bodyPr wrap="square">
            <a:spAutoFit/>
          </a:bodyPr>
          <a:lstStyle/>
          <a:p>
            <a:r>
              <a:rPr lang="en-US" sz="2800" b="1" dirty="0"/>
              <a:t>Types of Networks</a:t>
            </a:r>
          </a:p>
        </p:txBody>
      </p:sp>
      <p:sp>
        <p:nvSpPr>
          <p:cNvPr id="9" name="TextBox 8">
            <a:extLst>
              <a:ext uri="{FF2B5EF4-FFF2-40B4-BE49-F238E27FC236}">
                <a16:creationId xmlns:a16="http://schemas.microsoft.com/office/drawing/2014/main" id="{79F8AC83-4823-FD29-B820-2552A47AA9C4}"/>
              </a:ext>
            </a:extLst>
          </p:cNvPr>
          <p:cNvSpPr txBox="1"/>
          <p:nvPr/>
        </p:nvSpPr>
        <p:spPr>
          <a:xfrm>
            <a:off x="600364" y="1334945"/>
            <a:ext cx="6096000" cy="1754326"/>
          </a:xfrm>
          <a:prstGeom prst="rect">
            <a:avLst/>
          </a:prstGeom>
          <a:noFill/>
        </p:spPr>
        <p:txBody>
          <a:bodyPr wrap="square">
            <a:spAutoFit/>
          </a:bodyPr>
          <a:lstStyle/>
          <a:p>
            <a:pPr marL="342900" indent="-342900">
              <a:buAutoNum type="arabicPeriod"/>
            </a:pPr>
            <a:r>
              <a:rPr lang="en-US" b="1" dirty="0"/>
              <a:t>Personal Area Network (PAN)</a:t>
            </a:r>
          </a:p>
          <a:p>
            <a:pPr marL="342900" indent="-342900">
              <a:buAutoNum type="arabicPeriod"/>
            </a:pPr>
            <a:endParaRPr lang="en-US" b="1" dirty="0"/>
          </a:p>
          <a:p>
            <a:pPr>
              <a:buNone/>
            </a:pPr>
            <a:r>
              <a:rPr lang="en-US" dirty="0"/>
              <a:t>A PAN is a very small network around a person.</a:t>
            </a:r>
            <a:br>
              <a:rPr lang="en-US" dirty="0"/>
            </a:br>
            <a:r>
              <a:rPr lang="en-US" dirty="0"/>
              <a:t>It connects personal devices like smartphones, smartwatches, earbuds, and laptops.</a:t>
            </a:r>
            <a:br>
              <a:rPr lang="en-US" dirty="0"/>
            </a:br>
            <a:r>
              <a:rPr lang="en-US" dirty="0"/>
              <a:t>Bluetooth is the most common example.</a:t>
            </a:r>
          </a:p>
        </p:txBody>
      </p:sp>
      <p:sp>
        <p:nvSpPr>
          <p:cNvPr id="11" name="TextBox 10">
            <a:extLst>
              <a:ext uri="{FF2B5EF4-FFF2-40B4-BE49-F238E27FC236}">
                <a16:creationId xmlns:a16="http://schemas.microsoft.com/office/drawing/2014/main" id="{A395C376-7168-EFEC-D37C-623194CB3078}"/>
              </a:ext>
            </a:extLst>
          </p:cNvPr>
          <p:cNvSpPr txBox="1"/>
          <p:nvPr/>
        </p:nvSpPr>
        <p:spPr>
          <a:xfrm>
            <a:off x="600364" y="4196994"/>
            <a:ext cx="6096000" cy="1754326"/>
          </a:xfrm>
          <a:prstGeom prst="rect">
            <a:avLst/>
          </a:prstGeom>
          <a:noFill/>
        </p:spPr>
        <p:txBody>
          <a:bodyPr wrap="square">
            <a:spAutoFit/>
          </a:bodyPr>
          <a:lstStyle/>
          <a:p>
            <a:pPr>
              <a:buNone/>
            </a:pPr>
            <a:r>
              <a:rPr lang="en-US" b="1" dirty="0"/>
              <a:t>2. Local Area Network (LAN)</a:t>
            </a:r>
          </a:p>
          <a:p>
            <a:pPr>
              <a:buNone/>
            </a:pPr>
            <a:endParaRPr lang="en-US" b="1" dirty="0"/>
          </a:p>
          <a:p>
            <a:pPr>
              <a:buNone/>
            </a:pPr>
            <a:r>
              <a:rPr lang="en-US" dirty="0"/>
              <a:t>A LAN is a small network used within a limited area like a home, school, or office.</a:t>
            </a:r>
            <a:br>
              <a:rPr lang="en-US" dirty="0"/>
            </a:br>
            <a:r>
              <a:rPr lang="en-US" dirty="0"/>
              <a:t>It connects computers and devices to share data and resources.</a:t>
            </a:r>
            <a:br>
              <a:rPr lang="en-US" dirty="0"/>
            </a:br>
            <a:r>
              <a:rPr lang="en-US" dirty="0"/>
              <a:t>LANs offer high speed and low cost.</a:t>
            </a:r>
          </a:p>
        </p:txBody>
      </p:sp>
      <p:pic>
        <p:nvPicPr>
          <p:cNvPr id="17" name="Picture 16">
            <a:extLst>
              <a:ext uri="{FF2B5EF4-FFF2-40B4-BE49-F238E27FC236}">
                <a16:creationId xmlns:a16="http://schemas.microsoft.com/office/drawing/2014/main" id="{0048B235-2AAB-D2BE-1F6B-DEEBB69AFF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45400" y="422625"/>
            <a:ext cx="3512128" cy="3021500"/>
          </a:xfrm>
          <a:prstGeom prst="rect">
            <a:avLst/>
          </a:prstGeom>
        </p:spPr>
      </p:pic>
      <p:pic>
        <p:nvPicPr>
          <p:cNvPr id="19" name="Picture 18">
            <a:extLst>
              <a:ext uri="{FF2B5EF4-FFF2-40B4-BE49-F238E27FC236}">
                <a16:creationId xmlns:a16="http://schemas.microsoft.com/office/drawing/2014/main" id="{47ED653A-18D5-B01A-265B-7CD08C1E46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1058" y="3784368"/>
            <a:ext cx="3813678" cy="2856578"/>
          </a:xfrm>
          <a:prstGeom prst="rect">
            <a:avLst/>
          </a:prstGeom>
        </p:spPr>
      </p:pic>
    </p:spTree>
    <p:extLst>
      <p:ext uri="{BB962C8B-B14F-4D97-AF65-F5344CB8AC3E}">
        <p14:creationId xmlns:p14="http://schemas.microsoft.com/office/powerpoint/2010/main" val="3141498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14E9253-4AAC-D9A3-95B2-306DC31B14C8}"/>
              </a:ext>
            </a:extLst>
          </p:cNvPr>
          <p:cNvSpPr txBox="1"/>
          <p:nvPr/>
        </p:nvSpPr>
        <p:spPr>
          <a:xfrm>
            <a:off x="674254" y="1025576"/>
            <a:ext cx="6437746" cy="1477328"/>
          </a:xfrm>
          <a:prstGeom prst="rect">
            <a:avLst/>
          </a:prstGeom>
          <a:noFill/>
        </p:spPr>
        <p:txBody>
          <a:bodyPr wrap="square">
            <a:spAutoFit/>
          </a:bodyPr>
          <a:lstStyle/>
          <a:p>
            <a:pPr>
              <a:buNone/>
            </a:pPr>
            <a:r>
              <a:rPr lang="en-US" b="1" dirty="0"/>
              <a:t>3. Metropolitan Area Network (MAN)</a:t>
            </a:r>
          </a:p>
          <a:p>
            <a:pPr>
              <a:buNone/>
            </a:pPr>
            <a:endParaRPr lang="en-US" b="1" dirty="0"/>
          </a:p>
          <a:p>
            <a:pPr>
              <a:buNone/>
            </a:pPr>
            <a:r>
              <a:rPr lang="en-US" dirty="0"/>
              <a:t>A MAN covers a city or a large campus.</a:t>
            </a:r>
            <a:br>
              <a:rPr lang="en-US" dirty="0"/>
            </a:br>
            <a:r>
              <a:rPr lang="en-US" dirty="0"/>
              <a:t>It is bigger than a LAN but smaller than a WAN.</a:t>
            </a:r>
            <a:br>
              <a:rPr lang="en-US" dirty="0"/>
            </a:br>
            <a:r>
              <a:rPr lang="en-US" dirty="0"/>
              <a:t>Used by telecom companies to provide internet across a city.</a:t>
            </a:r>
          </a:p>
        </p:txBody>
      </p:sp>
      <p:sp>
        <p:nvSpPr>
          <p:cNvPr id="11" name="TextBox 10">
            <a:extLst>
              <a:ext uri="{FF2B5EF4-FFF2-40B4-BE49-F238E27FC236}">
                <a16:creationId xmlns:a16="http://schemas.microsoft.com/office/drawing/2014/main" id="{64FD19DF-EB47-9AAB-5E5F-6AC1A06D08AA}"/>
              </a:ext>
            </a:extLst>
          </p:cNvPr>
          <p:cNvSpPr txBox="1"/>
          <p:nvPr/>
        </p:nvSpPr>
        <p:spPr>
          <a:xfrm>
            <a:off x="674254" y="4078098"/>
            <a:ext cx="6096000" cy="1754326"/>
          </a:xfrm>
          <a:prstGeom prst="rect">
            <a:avLst/>
          </a:prstGeom>
          <a:noFill/>
        </p:spPr>
        <p:txBody>
          <a:bodyPr wrap="square">
            <a:spAutoFit/>
          </a:bodyPr>
          <a:lstStyle/>
          <a:p>
            <a:pPr>
              <a:buNone/>
            </a:pPr>
            <a:r>
              <a:rPr lang="en-US" b="1" dirty="0"/>
              <a:t>4. Wide Area Network (WAN)</a:t>
            </a:r>
          </a:p>
          <a:p>
            <a:pPr>
              <a:buNone/>
            </a:pPr>
            <a:endParaRPr lang="en-US" b="1" dirty="0"/>
          </a:p>
          <a:p>
            <a:pPr>
              <a:buNone/>
            </a:pPr>
            <a:r>
              <a:rPr lang="en-US" dirty="0"/>
              <a:t>A WAN covers a large geographical area such as cities, states, or countries.</a:t>
            </a:r>
            <a:br>
              <a:rPr lang="en-US" dirty="0"/>
            </a:br>
            <a:r>
              <a:rPr lang="en-US" dirty="0"/>
              <a:t>The best example is the </a:t>
            </a:r>
            <a:r>
              <a:rPr lang="en-US" b="1" dirty="0"/>
              <a:t>Internet</a:t>
            </a:r>
            <a:r>
              <a:rPr lang="en-US" dirty="0"/>
              <a:t>.</a:t>
            </a:r>
            <a:br>
              <a:rPr lang="en-US" dirty="0"/>
            </a:br>
            <a:r>
              <a:rPr lang="en-US" dirty="0"/>
              <a:t>WANs are slower and more expensive compared to LANs.</a:t>
            </a:r>
          </a:p>
        </p:txBody>
      </p:sp>
      <p:pic>
        <p:nvPicPr>
          <p:cNvPr id="13" name="Picture 12">
            <a:extLst>
              <a:ext uri="{FF2B5EF4-FFF2-40B4-BE49-F238E27FC236}">
                <a16:creationId xmlns:a16="http://schemas.microsoft.com/office/drawing/2014/main" id="{7AEA2317-4781-DBF7-08B4-F5F346E03F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7250" y="358630"/>
            <a:ext cx="3788947" cy="2633952"/>
          </a:xfrm>
          <a:prstGeom prst="rect">
            <a:avLst/>
          </a:prstGeom>
        </p:spPr>
      </p:pic>
      <p:pic>
        <p:nvPicPr>
          <p:cNvPr id="15" name="Picture 14">
            <a:extLst>
              <a:ext uri="{FF2B5EF4-FFF2-40B4-BE49-F238E27FC236}">
                <a16:creationId xmlns:a16="http://schemas.microsoft.com/office/drawing/2014/main" id="{97F45E74-CE67-CD03-BAD5-C14DF193FD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7250" y="3512126"/>
            <a:ext cx="3788947" cy="3072587"/>
          </a:xfrm>
          <a:prstGeom prst="rect">
            <a:avLst/>
          </a:prstGeom>
        </p:spPr>
      </p:pic>
    </p:spTree>
    <p:extLst>
      <p:ext uri="{BB962C8B-B14F-4D97-AF65-F5344CB8AC3E}">
        <p14:creationId xmlns:p14="http://schemas.microsoft.com/office/powerpoint/2010/main" val="158839808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Network and Types</Template>
  <TotalTime>1</TotalTime>
  <Words>261</Words>
  <Application>Microsoft Office PowerPoint</Application>
  <PresentationFormat>Widescreen</PresentationFormat>
  <Paragraphs>24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Amit Kumar</dc:creator>
  <cp:lastModifiedBy>Amit Kumar</cp:lastModifiedBy>
  <cp:revision>1</cp:revision>
  <dcterms:created xsi:type="dcterms:W3CDTF">2025-12-11T09:24:47Z</dcterms:created>
  <dcterms:modified xsi:type="dcterms:W3CDTF">2025-12-11T09:39:38Z</dcterms:modified>
</cp:coreProperties>
</file>