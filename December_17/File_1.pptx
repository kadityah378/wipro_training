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58" r:id="rId4"/>
    <p:sldId id="259"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9" d="100"/>
          <a:sy n="69" d="100"/>
        </p:scale>
        <p:origin x="564"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783473-4F8F-4974-B90B-7F159A9A91F1}"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67487D6-A9AC-46F7-B330-D058043BCF7E}" type="slidenum">
              <a:rPr lang="en-US" smtClean="0"/>
              <a:t>‹#›</a:t>
            </a:fld>
            <a:endParaRPr lang="en-US"/>
          </a:p>
        </p:txBody>
      </p:sp>
    </p:spTree>
    <p:extLst>
      <p:ext uri="{BB962C8B-B14F-4D97-AF65-F5344CB8AC3E}">
        <p14:creationId xmlns:p14="http://schemas.microsoft.com/office/powerpoint/2010/main" val="13154458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8783473-4F8F-4974-B90B-7F159A9A91F1}"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67487D6-A9AC-46F7-B330-D058043BCF7E}" type="slidenum">
              <a:rPr lang="en-US" smtClean="0"/>
              <a:t>‹#›</a:t>
            </a:fld>
            <a:endParaRPr lang="en-US"/>
          </a:p>
        </p:txBody>
      </p:sp>
    </p:spTree>
    <p:extLst>
      <p:ext uri="{BB962C8B-B14F-4D97-AF65-F5344CB8AC3E}">
        <p14:creationId xmlns:p14="http://schemas.microsoft.com/office/powerpoint/2010/main" val="19171692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8783473-4F8F-4974-B90B-7F159A9A91F1}"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67487D6-A9AC-46F7-B330-D058043BCF7E}" type="slidenum">
              <a:rPr lang="en-US" smtClean="0"/>
              <a:t>‹#›</a:t>
            </a:fld>
            <a:endParaRPr lang="en-US"/>
          </a:p>
        </p:txBody>
      </p:sp>
    </p:spTree>
    <p:extLst>
      <p:ext uri="{BB962C8B-B14F-4D97-AF65-F5344CB8AC3E}">
        <p14:creationId xmlns:p14="http://schemas.microsoft.com/office/powerpoint/2010/main" val="14314393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8783473-4F8F-4974-B90B-7F159A9A91F1}" type="datetimeFigureOut">
              <a:rPr lang="en-US" smtClean="0"/>
              <a:t>12/17/2025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67487D6-A9AC-46F7-B330-D058043BCF7E}" type="slidenum">
              <a:rPr lang="en-US" smtClean="0"/>
              <a:t>‹#›</a:t>
            </a:fld>
            <a:endParaRPr lang="en-US"/>
          </a:p>
        </p:txBody>
      </p:sp>
    </p:spTree>
    <p:extLst>
      <p:ext uri="{BB962C8B-B14F-4D97-AF65-F5344CB8AC3E}">
        <p14:creationId xmlns:p14="http://schemas.microsoft.com/office/powerpoint/2010/main" val="18955913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8783473-4F8F-4974-B90B-7F159A9A91F1}" type="datetimeFigureOut">
              <a:rPr lang="en-US" smtClean="0"/>
              <a:t>12/17/2025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67487D6-A9AC-46F7-B330-D058043BCF7E}" type="slidenum">
              <a:rPr lang="en-US" smtClean="0"/>
              <a:t>‹#›</a:t>
            </a:fld>
            <a:endParaRPr lang="en-US"/>
          </a:p>
        </p:txBody>
      </p:sp>
    </p:spTree>
    <p:extLst>
      <p:ext uri="{BB962C8B-B14F-4D97-AF65-F5344CB8AC3E}">
        <p14:creationId xmlns:p14="http://schemas.microsoft.com/office/powerpoint/2010/main" val="40046392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8783473-4F8F-4974-B90B-7F159A9A91F1}" type="datetimeFigureOut">
              <a:rPr lang="en-US" smtClean="0"/>
              <a:t>12/17/2025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67487D6-A9AC-46F7-B330-D058043BCF7E}" type="slidenum">
              <a:rPr lang="en-US" smtClean="0"/>
              <a:t>‹#›</a:t>
            </a:fld>
            <a:endParaRPr lang="en-US"/>
          </a:p>
        </p:txBody>
      </p:sp>
    </p:spTree>
    <p:extLst>
      <p:ext uri="{BB962C8B-B14F-4D97-AF65-F5344CB8AC3E}">
        <p14:creationId xmlns:p14="http://schemas.microsoft.com/office/powerpoint/2010/main" val="2102821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783473-4F8F-4974-B90B-7F159A9A91F1}" type="datetimeFigureOut">
              <a:rPr lang="en-US" smtClean="0"/>
              <a:t>12/17/2025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67487D6-A9AC-46F7-B330-D058043BCF7E}" type="slidenum">
              <a:rPr lang="en-US" smtClean="0"/>
              <a:t>‹#›</a:t>
            </a:fld>
            <a:endParaRPr lang="en-US"/>
          </a:p>
        </p:txBody>
      </p:sp>
    </p:spTree>
    <p:extLst>
      <p:ext uri="{BB962C8B-B14F-4D97-AF65-F5344CB8AC3E}">
        <p14:creationId xmlns:p14="http://schemas.microsoft.com/office/powerpoint/2010/main" val="12359104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8783473-4F8F-4974-B90B-7F159A9A91F1}" type="datetimeFigureOut">
              <a:rPr lang="en-US" smtClean="0"/>
              <a:t>12/17/2025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67487D6-A9AC-46F7-B330-D058043BCF7E}" type="slidenum">
              <a:rPr lang="en-US" smtClean="0"/>
              <a:t>‹#›</a:t>
            </a:fld>
            <a:endParaRPr lang="en-US"/>
          </a:p>
        </p:txBody>
      </p:sp>
    </p:spTree>
    <p:extLst>
      <p:ext uri="{BB962C8B-B14F-4D97-AF65-F5344CB8AC3E}">
        <p14:creationId xmlns:p14="http://schemas.microsoft.com/office/powerpoint/2010/main" val="35895101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8783473-4F8F-4974-B90B-7F159A9A91F1}" type="datetimeFigureOut">
              <a:rPr lang="en-US" smtClean="0"/>
              <a:t>12/17/2025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67487D6-A9AC-46F7-B330-D058043BCF7E}" type="slidenum">
              <a:rPr lang="en-US" smtClean="0"/>
              <a:t>‹#›</a:t>
            </a:fld>
            <a:endParaRPr lang="en-US"/>
          </a:p>
        </p:txBody>
      </p:sp>
    </p:spTree>
    <p:extLst>
      <p:ext uri="{BB962C8B-B14F-4D97-AF65-F5344CB8AC3E}">
        <p14:creationId xmlns:p14="http://schemas.microsoft.com/office/powerpoint/2010/main" val="15443617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8783473-4F8F-4974-B90B-7F159A9A91F1}"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67487D6-A9AC-46F7-B330-D058043BCF7E}" type="slidenum">
              <a:rPr lang="en-US" smtClean="0"/>
              <a:t>‹#›</a:t>
            </a:fld>
            <a:endParaRPr lang="en-US"/>
          </a:p>
        </p:txBody>
      </p:sp>
    </p:spTree>
    <p:extLst>
      <p:ext uri="{BB962C8B-B14F-4D97-AF65-F5344CB8AC3E}">
        <p14:creationId xmlns:p14="http://schemas.microsoft.com/office/powerpoint/2010/main" val="115946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8783473-4F8F-4974-B90B-7F159A9A91F1}"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67487D6-A9AC-46F7-B330-D058043BCF7E}" type="slidenum">
              <a:rPr lang="en-US" smtClean="0"/>
              <a:t>‹#›</a:t>
            </a:fld>
            <a:endParaRPr lang="en-US"/>
          </a:p>
        </p:txBody>
      </p:sp>
    </p:spTree>
    <p:extLst>
      <p:ext uri="{BB962C8B-B14F-4D97-AF65-F5344CB8AC3E}">
        <p14:creationId xmlns:p14="http://schemas.microsoft.com/office/powerpoint/2010/main" val="15375080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8783473-4F8F-4974-B90B-7F159A9A91F1}" type="datetimeFigureOut">
              <a:rPr lang="en-US" smtClean="0"/>
              <a:t>12/17/2025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7487D6-A9AC-46F7-B330-D058043BCF7E}" type="slidenum">
              <a:rPr lang="en-US" smtClean="0"/>
              <a:t>‹#›</a:t>
            </a:fld>
            <a:endParaRPr lang="en-US"/>
          </a:p>
        </p:txBody>
      </p:sp>
    </p:spTree>
    <p:extLst>
      <p:ext uri="{BB962C8B-B14F-4D97-AF65-F5344CB8AC3E}">
        <p14:creationId xmlns:p14="http://schemas.microsoft.com/office/powerpoint/2010/main" val="3389072082"/>
      </p:ext>
    </p:extLst>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F3B80168-7541-26C1-E747-5A64D78840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30110" y="0"/>
            <a:ext cx="5661890" cy="6858000"/>
          </a:xfrm>
          <a:prstGeom prst="rect">
            <a:avLst/>
          </a:prstGeom>
        </p:spPr>
      </p:pic>
      <p:sp>
        <p:nvSpPr>
          <p:cNvPr id="5" name="TextBox 4">
            <a:extLst>
              <a:ext uri="{FF2B5EF4-FFF2-40B4-BE49-F238E27FC236}">
                <a16:creationId xmlns:a16="http://schemas.microsoft.com/office/drawing/2014/main" id="{2B5E21ED-B4E8-5285-189D-EE2F1FF1910C}"/>
              </a:ext>
            </a:extLst>
          </p:cNvPr>
          <p:cNvSpPr txBox="1"/>
          <p:nvPr/>
        </p:nvSpPr>
        <p:spPr>
          <a:xfrm>
            <a:off x="358902" y="83486"/>
            <a:ext cx="6094476" cy="523220"/>
          </a:xfrm>
          <a:prstGeom prst="rect">
            <a:avLst/>
          </a:prstGeom>
          <a:noFill/>
        </p:spPr>
        <p:txBody>
          <a:bodyPr wrap="square">
            <a:spAutoFit/>
          </a:bodyPr>
          <a:lstStyle/>
          <a:p>
            <a:r>
              <a:rPr lang="en-US" sz="2800" b="1" u="sng" dirty="0"/>
              <a:t>Introduction to Linux</a:t>
            </a:r>
          </a:p>
        </p:txBody>
      </p:sp>
      <p:sp>
        <p:nvSpPr>
          <p:cNvPr id="7" name="TextBox 6">
            <a:extLst>
              <a:ext uri="{FF2B5EF4-FFF2-40B4-BE49-F238E27FC236}">
                <a16:creationId xmlns:a16="http://schemas.microsoft.com/office/drawing/2014/main" id="{E8EF8CD3-A9F0-2A3C-5799-5DBC87EB1415}"/>
              </a:ext>
            </a:extLst>
          </p:cNvPr>
          <p:cNvSpPr txBox="1"/>
          <p:nvPr/>
        </p:nvSpPr>
        <p:spPr>
          <a:xfrm>
            <a:off x="358902" y="599492"/>
            <a:ext cx="6094476" cy="1477328"/>
          </a:xfrm>
          <a:prstGeom prst="rect">
            <a:avLst/>
          </a:prstGeom>
          <a:noFill/>
        </p:spPr>
        <p:txBody>
          <a:bodyPr wrap="square">
            <a:spAutoFit/>
          </a:bodyPr>
          <a:lstStyle/>
          <a:p>
            <a:r>
              <a:rPr lang="en-US" dirty="0"/>
              <a:t>Linux is a free and open-source operating system kernel that forms the core of many operating systems used worldwide. It is widely used in servers, desktops, mobile devices, embedded systems, and cloud platforms. Linux is known for its stability, security, flexibility, and strong community support.</a:t>
            </a:r>
          </a:p>
        </p:txBody>
      </p:sp>
      <p:sp>
        <p:nvSpPr>
          <p:cNvPr id="9" name="TextBox 8">
            <a:extLst>
              <a:ext uri="{FF2B5EF4-FFF2-40B4-BE49-F238E27FC236}">
                <a16:creationId xmlns:a16="http://schemas.microsoft.com/office/drawing/2014/main" id="{696BECA6-2D38-0BB6-52C1-57FD8C363FB6}"/>
              </a:ext>
            </a:extLst>
          </p:cNvPr>
          <p:cNvSpPr txBox="1"/>
          <p:nvPr/>
        </p:nvSpPr>
        <p:spPr>
          <a:xfrm>
            <a:off x="358902" y="2086086"/>
            <a:ext cx="6094476" cy="461665"/>
          </a:xfrm>
          <a:prstGeom prst="rect">
            <a:avLst/>
          </a:prstGeom>
          <a:noFill/>
        </p:spPr>
        <p:txBody>
          <a:bodyPr wrap="square">
            <a:spAutoFit/>
          </a:bodyPr>
          <a:lstStyle/>
          <a:p>
            <a:r>
              <a:rPr lang="en-US" sz="2400" b="1" u="sng" dirty="0"/>
              <a:t>History of Linux</a:t>
            </a:r>
          </a:p>
        </p:txBody>
      </p:sp>
      <p:sp>
        <p:nvSpPr>
          <p:cNvPr id="11" name="TextBox 10">
            <a:extLst>
              <a:ext uri="{FF2B5EF4-FFF2-40B4-BE49-F238E27FC236}">
                <a16:creationId xmlns:a16="http://schemas.microsoft.com/office/drawing/2014/main" id="{73E8EC10-D3FD-5E54-1774-CE9676DC9FAF}"/>
              </a:ext>
            </a:extLst>
          </p:cNvPr>
          <p:cNvSpPr txBox="1"/>
          <p:nvPr/>
        </p:nvSpPr>
        <p:spPr>
          <a:xfrm>
            <a:off x="358902" y="2557017"/>
            <a:ext cx="6094476" cy="1477328"/>
          </a:xfrm>
          <a:prstGeom prst="rect">
            <a:avLst/>
          </a:prstGeom>
          <a:noFill/>
        </p:spPr>
        <p:txBody>
          <a:bodyPr wrap="square">
            <a:spAutoFit/>
          </a:bodyPr>
          <a:lstStyle/>
          <a:p>
            <a:r>
              <a:rPr lang="en-US" dirty="0"/>
              <a:t>Linux was created in 1991 by Linus Torvalds, a computer science student from Finland. He developed Linux as a personal project to create a free operating system kernel inspired by UNIX. Linus released the kernel publicly and invited developers from around the world to contribute.</a:t>
            </a:r>
          </a:p>
        </p:txBody>
      </p:sp>
      <p:sp>
        <p:nvSpPr>
          <p:cNvPr id="13" name="TextBox 12">
            <a:extLst>
              <a:ext uri="{FF2B5EF4-FFF2-40B4-BE49-F238E27FC236}">
                <a16:creationId xmlns:a16="http://schemas.microsoft.com/office/drawing/2014/main" id="{B2FBFC9B-46E9-2DB4-FAFA-DE6AC1548143}"/>
              </a:ext>
            </a:extLst>
          </p:cNvPr>
          <p:cNvSpPr txBox="1"/>
          <p:nvPr/>
        </p:nvSpPr>
        <p:spPr>
          <a:xfrm>
            <a:off x="358902" y="4034345"/>
            <a:ext cx="6094476" cy="461665"/>
          </a:xfrm>
          <a:prstGeom prst="rect">
            <a:avLst/>
          </a:prstGeom>
          <a:noFill/>
        </p:spPr>
        <p:txBody>
          <a:bodyPr wrap="square">
            <a:spAutoFit/>
          </a:bodyPr>
          <a:lstStyle/>
          <a:p>
            <a:r>
              <a:rPr lang="en-US" sz="2400" b="1" u="sng" dirty="0"/>
              <a:t>Philosophy of Linux</a:t>
            </a:r>
          </a:p>
        </p:txBody>
      </p:sp>
      <p:sp>
        <p:nvSpPr>
          <p:cNvPr id="15" name="TextBox 14">
            <a:extLst>
              <a:ext uri="{FF2B5EF4-FFF2-40B4-BE49-F238E27FC236}">
                <a16:creationId xmlns:a16="http://schemas.microsoft.com/office/drawing/2014/main" id="{773FDDAD-C595-1977-A73E-CAC87ABB9B54}"/>
              </a:ext>
            </a:extLst>
          </p:cNvPr>
          <p:cNvSpPr txBox="1"/>
          <p:nvPr/>
        </p:nvSpPr>
        <p:spPr>
          <a:xfrm>
            <a:off x="358902" y="4496010"/>
            <a:ext cx="5737098" cy="2308324"/>
          </a:xfrm>
          <a:prstGeom prst="rect">
            <a:avLst/>
          </a:prstGeom>
          <a:noFill/>
        </p:spPr>
        <p:txBody>
          <a:bodyPr wrap="square">
            <a:spAutoFit/>
          </a:bodyPr>
          <a:lstStyle/>
          <a:p>
            <a:pPr>
              <a:buNone/>
            </a:pPr>
            <a:r>
              <a:rPr lang="en-US" dirty="0"/>
              <a:t>The philosophy of Linux is based on the following principles:</a:t>
            </a:r>
          </a:p>
          <a:p>
            <a:r>
              <a:rPr lang="en-US" b="1" dirty="0"/>
              <a:t>- Open Source</a:t>
            </a:r>
            <a:r>
              <a:rPr lang="en-US" dirty="0"/>
              <a:t>: Source code is freely available to everyone.</a:t>
            </a:r>
          </a:p>
          <a:p>
            <a:r>
              <a:rPr lang="en-US" b="1" dirty="0"/>
              <a:t>- Freedom</a:t>
            </a:r>
            <a:r>
              <a:rPr lang="en-US" dirty="0"/>
              <a:t>: Users can run, study, modify.</a:t>
            </a:r>
          </a:p>
          <a:p>
            <a:r>
              <a:rPr lang="en-US" b="1" dirty="0"/>
              <a:t>- Community Collaboration</a:t>
            </a:r>
            <a:r>
              <a:rPr lang="en-US" dirty="0"/>
              <a:t>: Development is driven by a global community.</a:t>
            </a:r>
          </a:p>
          <a:p>
            <a:r>
              <a:rPr lang="en-US" b="1" dirty="0"/>
              <a:t>- Security and Stability</a:t>
            </a:r>
            <a:r>
              <a:rPr lang="en-US" dirty="0"/>
              <a:t>: Strong permission systems and frequent updates.</a:t>
            </a:r>
          </a:p>
        </p:txBody>
      </p:sp>
    </p:spTree>
    <p:extLst>
      <p:ext uri="{BB962C8B-B14F-4D97-AF65-F5344CB8AC3E}">
        <p14:creationId xmlns:p14="http://schemas.microsoft.com/office/powerpoint/2010/main" val="17196178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54509EE-774E-17B6-E303-64D7CE2304BE}"/>
              </a:ext>
            </a:extLst>
          </p:cNvPr>
          <p:cNvSpPr txBox="1"/>
          <p:nvPr/>
        </p:nvSpPr>
        <p:spPr>
          <a:xfrm>
            <a:off x="331470" y="208526"/>
            <a:ext cx="6094476" cy="523220"/>
          </a:xfrm>
          <a:prstGeom prst="rect">
            <a:avLst/>
          </a:prstGeom>
          <a:noFill/>
        </p:spPr>
        <p:txBody>
          <a:bodyPr wrap="square">
            <a:spAutoFit/>
          </a:bodyPr>
          <a:lstStyle/>
          <a:p>
            <a:r>
              <a:rPr lang="en-US" sz="2800" b="1" u="sng" dirty="0"/>
              <a:t>Origins of Linux</a:t>
            </a:r>
          </a:p>
        </p:txBody>
      </p:sp>
      <p:sp>
        <p:nvSpPr>
          <p:cNvPr id="7" name="TextBox 6">
            <a:extLst>
              <a:ext uri="{FF2B5EF4-FFF2-40B4-BE49-F238E27FC236}">
                <a16:creationId xmlns:a16="http://schemas.microsoft.com/office/drawing/2014/main" id="{5C701946-E02E-B3B2-66C8-1FE7B182B7FB}"/>
              </a:ext>
            </a:extLst>
          </p:cNvPr>
          <p:cNvSpPr txBox="1"/>
          <p:nvPr/>
        </p:nvSpPr>
        <p:spPr>
          <a:xfrm>
            <a:off x="331470" y="731746"/>
            <a:ext cx="5968746" cy="2308324"/>
          </a:xfrm>
          <a:prstGeom prst="rect">
            <a:avLst/>
          </a:prstGeom>
          <a:noFill/>
        </p:spPr>
        <p:txBody>
          <a:bodyPr wrap="square">
            <a:spAutoFit/>
          </a:bodyPr>
          <a:lstStyle/>
          <a:p>
            <a:pPr>
              <a:buNone/>
            </a:pPr>
            <a:r>
              <a:rPr lang="en-US" dirty="0"/>
              <a:t>Linux originated as a kernel, not a complete operating system. A kernel is the core component that manages hardware resources such as CPU, memory, and devices.</a:t>
            </a:r>
          </a:p>
          <a:p>
            <a:pPr>
              <a:buNone/>
            </a:pPr>
            <a:r>
              <a:rPr lang="en-US" dirty="0"/>
              <a:t>Linus Torvalds released the Linux kernel under the GNU General Public License (GPL), which allowed it to be freely used and modified. Developers combined the Linux kernel with tools and software from the GNU Project to create complete operating systems, known as Linux distributions.</a:t>
            </a:r>
          </a:p>
        </p:txBody>
      </p:sp>
      <p:sp>
        <p:nvSpPr>
          <p:cNvPr id="9" name="TextBox 8">
            <a:extLst>
              <a:ext uri="{FF2B5EF4-FFF2-40B4-BE49-F238E27FC236}">
                <a16:creationId xmlns:a16="http://schemas.microsoft.com/office/drawing/2014/main" id="{72B0EF25-8218-D53F-B999-D9D78CE7118D}"/>
              </a:ext>
            </a:extLst>
          </p:cNvPr>
          <p:cNvSpPr txBox="1"/>
          <p:nvPr/>
        </p:nvSpPr>
        <p:spPr>
          <a:xfrm>
            <a:off x="331470" y="3101625"/>
            <a:ext cx="6094476" cy="461665"/>
          </a:xfrm>
          <a:prstGeom prst="rect">
            <a:avLst/>
          </a:prstGeom>
          <a:noFill/>
        </p:spPr>
        <p:txBody>
          <a:bodyPr wrap="square">
            <a:spAutoFit/>
          </a:bodyPr>
          <a:lstStyle/>
          <a:p>
            <a:r>
              <a:rPr lang="en-US" sz="2400" b="1" u="sng" dirty="0"/>
              <a:t>GNU/Linux</a:t>
            </a:r>
          </a:p>
        </p:txBody>
      </p:sp>
      <p:sp>
        <p:nvSpPr>
          <p:cNvPr id="11" name="TextBox 10">
            <a:extLst>
              <a:ext uri="{FF2B5EF4-FFF2-40B4-BE49-F238E27FC236}">
                <a16:creationId xmlns:a16="http://schemas.microsoft.com/office/drawing/2014/main" id="{ECB12108-5BF6-7596-D90F-778180F9D9C0}"/>
              </a:ext>
            </a:extLst>
          </p:cNvPr>
          <p:cNvSpPr txBox="1"/>
          <p:nvPr/>
        </p:nvSpPr>
        <p:spPr>
          <a:xfrm>
            <a:off x="331470" y="3563290"/>
            <a:ext cx="6094476" cy="646331"/>
          </a:xfrm>
          <a:prstGeom prst="rect">
            <a:avLst/>
          </a:prstGeom>
          <a:noFill/>
        </p:spPr>
        <p:txBody>
          <a:bodyPr wrap="square">
            <a:spAutoFit/>
          </a:bodyPr>
          <a:lstStyle/>
          <a:p>
            <a:r>
              <a:rPr lang="en-US" dirty="0"/>
              <a:t>The term </a:t>
            </a:r>
            <a:r>
              <a:rPr lang="en-US" b="1" dirty="0"/>
              <a:t>GNU/Linux</a:t>
            </a:r>
            <a:r>
              <a:rPr lang="en-US" dirty="0"/>
              <a:t> refers to operating systems that use the Linux kernel together with GNU software tools.</a:t>
            </a:r>
          </a:p>
        </p:txBody>
      </p:sp>
      <p:sp>
        <p:nvSpPr>
          <p:cNvPr id="13" name="TextBox 12">
            <a:extLst>
              <a:ext uri="{FF2B5EF4-FFF2-40B4-BE49-F238E27FC236}">
                <a16:creationId xmlns:a16="http://schemas.microsoft.com/office/drawing/2014/main" id="{309F807C-D970-8A2E-8D14-6800834B4286}"/>
              </a:ext>
            </a:extLst>
          </p:cNvPr>
          <p:cNvSpPr txBox="1"/>
          <p:nvPr/>
        </p:nvSpPr>
        <p:spPr>
          <a:xfrm>
            <a:off x="331470" y="4301954"/>
            <a:ext cx="6094476" cy="369332"/>
          </a:xfrm>
          <a:prstGeom prst="rect">
            <a:avLst/>
          </a:prstGeom>
          <a:noFill/>
        </p:spPr>
        <p:txBody>
          <a:bodyPr wrap="square">
            <a:spAutoFit/>
          </a:bodyPr>
          <a:lstStyle/>
          <a:p>
            <a:r>
              <a:rPr lang="en-US" b="1" dirty="0"/>
              <a:t>GNU Project</a:t>
            </a:r>
          </a:p>
        </p:txBody>
      </p:sp>
      <p:sp>
        <p:nvSpPr>
          <p:cNvPr id="15" name="TextBox 14">
            <a:extLst>
              <a:ext uri="{FF2B5EF4-FFF2-40B4-BE49-F238E27FC236}">
                <a16:creationId xmlns:a16="http://schemas.microsoft.com/office/drawing/2014/main" id="{AC74648F-D3AF-022B-6AFD-3AAC66402F53}"/>
              </a:ext>
            </a:extLst>
          </p:cNvPr>
          <p:cNvSpPr txBox="1"/>
          <p:nvPr/>
        </p:nvSpPr>
        <p:spPr>
          <a:xfrm>
            <a:off x="331470" y="4763619"/>
            <a:ext cx="6094476" cy="1754326"/>
          </a:xfrm>
          <a:prstGeom prst="rect">
            <a:avLst/>
          </a:prstGeom>
          <a:noFill/>
        </p:spPr>
        <p:txBody>
          <a:bodyPr wrap="square">
            <a:spAutoFit/>
          </a:bodyPr>
          <a:lstStyle/>
          <a:p>
            <a:pPr>
              <a:buNone/>
            </a:pPr>
            <a:r>
              <a:rPr lang="en-US" dirty="0"/>
              <a:t>The GNU Project was started in 1983 by Richard Stallman to create a free UNIX-like operating system. GNU developed essential components such as:</a:t>
            </a:r>
          </a:p>
          <a:p>
            <a:pPr>
              <a:buNone/>
            </a:pPr>
            <a:r>
              <a:rPr lang="en-US" dirty="0"/>
              <a:t>                                          - Compilers (GCC)</a:t>
            </a:r>
          </a:p>
          <a:p>
            <a:r>
              <a:rPr lang="en-US" dirty="0"/>
              <a:t>                                          - Shells (Bash)</a:t>
            </a:r>
          </a:p>
          <a:p>
            <a:r>
              <a:rPr lang="en-US" dirty="0"/>
              <a:t>                                          - Libraries and utilities</a:t>
            </a:r>
          </a:p>
        </p:txBody>
      </p:sp>
      <p:pic>
        <p:nvPicPr>
          <p:cNvPr id="17" name="Picture 16">
            <a:extLst>
              <a:ext uri="{FF2B5EF4-FFF2-40B4-BE49-F238E27FC236}">
                <a16:creationId xmlns:a16="http://schemas.microsoft.com/office/drawing/2014/main" id="{011E47EE-8DA4-0149-F250-CDD2D62477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11637" y="0"/>
            <a:ext cx="5680364" cy="6857999"/>
          </a:xfrm>
          <a:prstGeom prst="rect">
            <a:avLst/>
          </a:prstGeom>
        </p:spPr>
      </p:pic>
    </p:spTree>
    <p:extLst>
      <p:ext uri="{BB962C8B-B14F-4D97-AF65-F5344CB8AC3E}">
        <p14:creationId xmlns:p14="http://schemas.microsoft.com/office/powerpoint/2010/main" val="3922147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4F7E3F64-0ECE-4E1F-1525-540BB58434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0" y="0"/>
            <a:ext cx="6858000" cy="6858000"/>
          </a:xfrm>
          <a:prstGeom prst="rect">
            <a:avLst/>
          </a:prstGeom>
        </p:spPr>
      </p:pic>
      <p:sp>
        <p:nvSpPr>
          <p:cNvPr id="5" name="TextBox 4">
            <a:extLst>
              <a:ext uri="{FF2B5EF4-FFF2-40B4-BE49-F238E27FC236}">
                <a16:creationId xmlns:a16="http://schemas.microsoft.com/office/drawing/2014/main" id="{062FADCA-9844-B0A3-F506-59BE03F46414}"/>
              </a:ext>
            </a:extLst>
          </p:cNvPr>
          <p:cNvSpPr txBox="1"/>
          <p:nvPr/>
        </p:nvSpPr>
        <p:spPr>
          <a:xfrm>
            <a:off x="276606" y="162806"/>
            <a:ext cx="6094476" cy="523220"/>
          </a:xfrm>
          <a:prstGeom prst="rect">
            <a:avLst/>
          </a:prstGeom>
          <a:noFill/>
        </p:spPr>
        <p:txBody>
          <a:bodyPr wrap="square">
            <a:spAutoFit/>
          </a:bodyPr>
          <a:lstStyle/>
          <a:p>
            <a:r>
              <a:rPr lang="en-US" sz="2800" b="1" u="sng" dirty="0"/>
              <a:t>Overview of Ubuntu</a:t>
            </a:r>
          </a:p>
        </p:txBody>
      </p:sp>
      <p:sp>
        <p:nvSpPr>
          <p:cNvPr id="7" name="TextBox 6">
            <a:extLst>
              <a:ext uri="{FF2B5EF4-FFF2-40B4-BE49-F238E27FC236}">
                <a16:creationId xmlns:a16="http://schemas.microsoft.com/office/drawing/2014/main" id="{28E2446C-F550-3EBA-1B56-F2116662EFD6}"/>
              </a:ext>
            </a:extLst>
          </p:cNvPr>
          <p:cNvSpPr txBox="1"/>
          <p:nvPr/>
        </p:nvSpPr>
        <p:spPr>
          <a:xfrm>
            <a:off x="276606" y="686026"/>
            <a:ext cx="6462522" cy="646331"/>
          </a:xfrm>
          <a:prstGeom prst="rect">
            <a:avLst/>
          </a:prstGeom>
          <a:noFill/>
        </p:spPr>
        <p:txBody>
          <a:bodyPr wrap="square">
            <a:spAutoFit/>
          </a:bodyPr>
          <a:lstStyle/>
          <a:p>
            <a:r>
              <a:rPr lang="en-US" dirty="0"/>
              <a:t>Ubuntu is one of the most popular Linux distributions, developed by Canonical Ltd.</a:t>
            </a:r>
          </a:p>
        </p:txBody>
      </p:sp>
      <p:sp>
        <p:nvSpPr>
          <p:cNvPr id="9" name="TextBox 8">
            <a:extLst>
              <a:ext uri="{FF2B5EF4-FFF2-40B4-BE49-F238E27FC236}">
                <a16:creationId xmlns:a16="http://schemas.microsoft.com/office/drawing/2014/main" id="{4BF15304-6827-DA7B-2737-662BB1C3166E}"/>
              </a:ext>
            </a:extLst>
          </p:cNvPr>
          <p:cNvSpPr txBox="1"/>
          <p:nvPr/>
        </p:nvSpPr>
        <p:spPr>
          <a:xfrm>
            <a:off x="276606" y="1409300"/>
            <a:ext cx="6094476" cy="400110"/>
          </a:xfrm>
          <a:prstGeom prst="rect">
            <a:avLst/>
          </a:prstGeom>
          <a:noFill/>
        </p:spPr>
        <p:txBody>
          <a:bodyPr wrap="square">
            <a:spAutoFit/>
          </a:bodyPr>
          <a:lstStyle/>
          <a:p>
            <a:r>
              <a:rPr lang="en-US" sz="2000" b="1" u="sng" dirty="0"/>
              <a:t>Key Features of Ubuntu</a:t>
            </a:r>
          </a:p>
        </p:txBody>
      </p:sp>
      <p:sp>
        <p:nvSpPr>
          <p:cNvPr id="10" name="Rectangle 1">
            <a:extLst>
              <a:ext uri="{FF2B5EF4-FFF2-40B4-BE49-F238E27FC236}">
                <a16:creationId xmlns:a16="http://schemas.microsoft.com/office/drawing/2014/main" id="{2F1A3531-640C-A1BB-F80D-B2321AEE796B}"/>
              </a:ext>
            </a:extLst>
          </p:cNvPr>
          <p:cNvSpPr>
            <a:spLocks noChangeArrowheads="1"/>
          </p:cNvSpPr>
          <p:nvPr/>
        </p:nvSpPr>
        <p:spPr bwMode="auto">
          <a:xfrm>
            <a:off x="276605" y="1886353"/>
            <a:ext cx="6201313"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lvl="0" indent="-285750" eaLnBrk="0" fontAlgn="base" hangingPunct="0">
              <a:spcBef>
                <a:spcPct val="0"/>
              </a:spcBef>
              <a:spcAft>
                <a:spcPct val="0"/>
              </a:spcAft>
              <a:buFontTx/>
              <a:buChar char="-"/>
            </a:pPr>
            <a:r>
              <a:rPr lang="en-US" altLang="en-US" dirty="0">
                <a:latin typeface="Arial" panose="020B0604020202020204" pitchFamily="34" charset="0"/>
              </a:rPr>
              <a:t>Regular updates and Long-Term Support (LTS) versions</a:t>
            </a:r>
          </a:p>
          <a:p>
            <a:pPr marL="285750" lvl="0" indent="-285750" eaLnBrk="0" fontAlgn="base" hangingPunct="0">
              <a:spcBef>
                <a:spcPct val="0"/>
              </a:spcBef>
              <a:spcAft>
                <a:spcPct val="0"/>
              </a:spcAft>
              <a:buFontTx/>
              <a:buChar char="-"/>
            </a:pPr>
            <a:endParaRPr lang="en-US" altLang="en-US" dirty="0">
              <a:latin typeface="Arial" panose="020B0604020202020204" pitchFamily="34" charset="0"/>
            </a:endParaRPr>
          </a:p>
          <a:p>
            <a:pPr marL="285750" lvl="0" indent="-285750" eaLnBrk="0" fontAlgn="base" hangingPunct="0">
              <a:spcBef>
                <a:spcPct val="0"/>
              </a:spcBef>
              <a:spcAft>
                <a:spcPct val="0"/>
              </a:spcAft>
              <a:buFontTx/>
              <a:buChar char="-"/>
            </a:pPr>
            <a:r>
              <a:rPr lang="en-US" altLang="en-US" dirty="0">
                <a:latin typeface="Arial" panose="020B0604020202020204" pitchFamily="34" charset="0"/>
              </a:rPr>
              <a:t>Strong community support</a:t>
            </a:r>
          </a:p>
          <a:p>
            <a:pPr marL="285750" lvl="0" indent="-285750" eaLnBrk="0" fontAlgn="base" hangingPunct="0">
              <a:spcBef>
                <a:spcPct val="0"/>
              </a:spcBef>
              <a:spcAft>
                <a:spcPct val="0"/>
              </a:spcAft>
              <a:buFontTx/>
              <a:buChar char="-"/>
            </a:pPr>
            <a:endParaRPr lang="en-US" altLang="en-US" dirty="0">
              <a:latin typeface="Arial" panose="020B0604020202020204" pitchFamily="34" charset="0"/>
            </a:endParaRPr>
          </a:p>
          <a:p>
            <a:pPr marL="285750" lvl="0" indent="-285750" eaLnBrk="0" fontAlgn="base" hangingPunct="0">
              <a:spcBef>
                <a:spcPct val="0"/>
              </a:spcBef>
              <a:spcAft>
                <a:spcPct val="0"/>
              </a:spcAft>
              <a:buFontTx/>
              <a:buChar char="-"/>
            </a:pPr>
            <a:r>
              <a:rPr lang="en-US" altLang="en-US" dirty="0">
                <a:latin typeface="Arial" panose="020B0604020202020204" pitchFamily="34" charset="0"/>
              </a:rPr>
              <a:t>Suitable for beginners and professionals</a:t>
            </a:r>
          </a:p>
          <a:p>
            <a:pPr marL="285750" lvl="0" indent="-285750" eaLnBrk="0" fontAlgn="base" hangingPunct="0">
              <a:spcBef>
                <a:spcPct val="0"/>
              </a:spcBef>
              <a:spcAft>
                <a:spcPct val="0"/>
              </a:spcAft>
              <a:buFontTx/>
              <a:buChar char="-"/>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Arial" panose="020B0604020202020204" pitchFamily="34" charset="0"/>
              </a:rPr>
              <a:t>-  User-friendly interface</a:t>
            </a:r>
          </a:p>
        </p:txBody>
      </p:sp>
      <p:sp>
        <p:nvSpPr>
          <p:cNvPr id="12" name="TextBox 11">
            <a:extLst>
              <a:ext uri="{FF2B5EF4-FFF2-40B4-BE49-F238E27FC236}">
                <a16:creationId xmlns:a16="http://schemas.microsoft.com/office/drawing/2014/main" id="{475C1F6E-231C-172E-0D4D-C95606298FE6}"/>
              </a:ext>
            </a:extLst>
          </p:cNvPr>
          <p:cNvSpPr txBox="1"/>
          <p:nvPr/>
        </p:nvSpPr>
        <p:spPr>
          <a:xfrm>
            <a:off x="330023" y="4157887"/>
            <a:ext cx="6094476" cy="400110"/>
          </a:xfrm>
          <a:prstGeom prst="rect">
            <a:avLst/>
          </a:prstGeom>
          <a:noFill/>
        </p:spPr>
        <p:txBody>
          <a:bodyPr wrap="square">
            <a:spAutoFit/>
          </a:bodyPr>
          <a:lstStyle/>
          <a:p>
            <a:r>
              <a:rPr lang="en-US" sz="2000" b="1" u="sng" dirty="0"/>
              <a:t>Uses of Ubuntu</a:t>
            </a:r>
          </a:p>
        </p:txBody>
      </p:sp>
      <p:sp>
        <p:nvSpPr>
          <p:cNvPr id="13" name="Rectangle 2">
            <a:extLst>
              <a:ext uri="{FF2B5EF4-FFF2-40B4-BE49-F238E27FC236}">
                <a16:creationId xmlns:a16="http://schemas.microsoft.com/office/drawing/2014/main" id="{FB1E406D-57AA-5EDA-6566-81D5A70302B4}"/>
              </a:ext>
            </a:extLst>
          </p:cNvPr>
          <p:cNvSpPr>
            <a:spLocks noChangeArrowheads="1"/>
          </p:cNvSpPr>
          <p:nvPr/>
        </p:nvSpPr>
        <p:spPr bwMode="auto">
          <a:xfrm>
            <a:off x="276605" y="4710036"/>
            <a:ext cx="4249881"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1"/>
                </a:solidFill>
                <a:effectLst/>
                <a:latin typeface="Arial" panose="020B0604020202020204" pitchFamily="34" charset="0"/>
              </a:rPr>
              <a:t>- Desktop and laptop operating systems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1"/>
                </a:solidFill>
                <a:effectLst/>
                <a:latin typeface="Arial" panose="020B0604020202020204" pitchFamily="34" charset="0"/>
              </a:rPr>
              <a:t>- Servers and cloud platforms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1"/>
                </a:solidFill>
                <a:effectLst/>
                <a:latin typeface="Arial" panose="020B0604020202020204" pitchFamily="34" charset="0"/>
              </a:rPr>
              <a:t>- Development and programming</a:t>
            </a:r>
          </a:p>
        </p:txBody>
      </p:sp>
    </p:spTree>
    <p:extLst>
      <p:ext uri="{BB962C8B-B14F-4D97-AF65-F5344CB8AC3E}">
        <p14:creationId xmlns:p14="http://schemas.microsoft.com/office/powerpoint/2010/main" val="20518031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17775FF-A663-4F18-78A2-16E045CF570B}"/>
              </a:ext>
            </a:extLst>
          </p:cNvPr>
          <p:cNvSpPr txBox="1"/>
          <p:nvPr/>
        </p:nvSpPr>
        <p:spPr>
          <a:xfrm>
            <a:off x="413766" y="199382"/>
            <a:ext cx="6094476" cy="523220"/>
          </a:xfrm>
          <a:prstGeom prst="rect">
            <a:avLst/>
          </a:prstGeom>
          <a:noFill/>
        </p:spPr>
        <p:txBody>
          <a:bodyPr wrap="square">
            <a:spAutoFit/>
          </a:bodyPr>
          <a:lstStyle/>
          <a:p>
            <a:r>
              <a:rPr lang="en-US" sz="2800" b="1" u="sng" dirty="0"/>
              <a:t>Overview of Fedora</a:t>
            </a:r>
          </a:p>
        </p:txBody>
      </p:sp>
      <p:sp>
        <p:nvSpPr>
          <p:cNvPr id="7" name="TextBox 6">
            <a:extLst>
              <a:ext uri="{FF2B5EF4-FFF2-40B4-BE49-F238E27FC236}">
                <a16:creationId xmlns:a16="http://schemas.microsoft.com/office/drawing/2014/main" id="{0BFBB7F9-6196-6A3C-DF41-72838953399C}"/>
              </a:ext>
            </a:extLst>
          </p:cNvPr>
          <p:cNvSpPr txBox="1"/>
          <p:nvPr/>
        </p:nvSpPr>
        <p:spPr>
          <a:xfrm>
            <a:off x="413766" y="743234"/>
            <a:ext cx="6094476" cy="369332"/>
          </a:xfrm>
          <a:prstGeom prst="rect">
            <a:avLst/>
          </a:prstGeom>
          <a:noFill/>
        </p:spPr>
        <p:txBody>
          <a:bodyPr wrap="square">
            <a:spAutoFit/>
          </a:bodyPr>
          <a:lstStyle/>
          <a:p>
            <a:r>
              <a:rPr lang="en-US" dirty="0"/>
              <a:t>- Fedora is a Linux distribution sponsored by Red Hat.</a:t>
            </a:r>
          </a:p>
        </p:txBody>
      </p:sp>
      <p:sp>
        <p:nvSpPr>
          <p:cNvPr id="9" name="TextBox 8">
            <a:extLst>
              <a:ext uri="{FF2B5EF4-FFF2-40B4-BE49-F238E27FC236}">
                <a16:creationId xmlns:a16="http://schemas.microsoft.com/office/drawing/2014/main" id="{55D648DA-647D-C852-3C78-862A8F7E4FFC}"/>
              </a:ext>
            </a:extLst>
          </p:cNvPr>
          <p:cNvSpPr txBox="1"/>
          <p:nvPr/>
        </p:nvSpPr>
        <p:spPr>
          <a:xfrm>
            <a:off x="413766" y="1346382"/>
            <a:ext cx="6094476" cy="400110"/>
          </a:xfrm>
          <a:prstGeom prst="rect">
            <a:avLst/>
          </a:prstGeom>
          <a:noFill/>
        </p:spPr>
        <p:txBody>
          <a:bodyPr wrap="square">
            <a:spAutoFit/>
          </a:bodyPr>
          <a:lstStyle/>
          <a:p>
            <a:r>
              <a:rPr lang="en-US" sz="2000" b="1" u="sng" dirty="0"/>
              <a:t>Key Features of Fedora</a:t>
            </a:r>
          </a:p>
        </p:txBody>
      </p:sp>
      <p:sp>
        <p:nvSpPr>
          <p:cNvPr id="10" name="Rectangle 1">
            <a:extLst>
              <a:ext uri="{FF2B5EF4-FFF2-40B4-BE49-F238E27FC236}">
                <a16:creationId xmlns:a16="http://schemas.microsoft.com/office/drawing/2014/main" id="{44CA4F9A-402C-0594-D6EA-BB50C6517CAC}"/>
              </a:ext>
            </a:extLst>
          </p:cNvPr>
          <p:cNvSpPr>
            <a:spLocks noChangeArrowheads="1"/>
          </p:cNvSpPr>
          <p:nvPr/>
        </p:nvSpPr>
        <p:spPr bwMode="auto">
          <a:xfrm>
            <a:off x="413766" y="1859340"/>
            <a:ext cx="4596130"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1"/>
                </a:solidFill>
                <a:effectLst/>
                <a:latin typeface="Arial" panose="020B0604020202020204" pitchFamily="34" charset="0"/>
              </a:rPr>
              <a:t>- Uses the latest software and technologies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1"/>
                </a:solidFill>
                <a:effectLst/>
                <a:latin typeface="Arial" panose="020B0604020202020204" pitchFamily="34" charset="0"/>
              </a:rPr>
              <a:t>- Strong focus on security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1"/>
                </a:solidFill>
                <a:effectLst/>
                <a:latin typeface="Arial" panose="020B0604020202020204" pitchFamily="34" charset="0"/>
              </a:rPr>
              <a:t>- Ideal for developers and advanced users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1"/>
                </a:solidFill>
                <a:effectLst/>
                <a:latin typeface="Arial" panose="020B0604020202020204" pitchFamily="34" charset="0"/>
              </a:rPr>
              <a:t>- Community-driven project</a:t>
            </a:r>
          </a:p>
        </p:txBody>
      </p:sp>
      <p:sp>
        <p:nvSpPr>
          <p:cNvPr id="12" name="TextBox 11">
            <a:extLst>
              <a:ext uri="{FF2B5EF4-FFF2-40B4-BE49-F238E27FC236}">
                <a16:creationId xmlns:a16="http://schemas.microsoft.com/office/drawing/2014/main" id="{06C4E9EF-1C67-98EB-EA3F-A2A2EEBC674E}"/>
              </a:ext>
            </a:extLst>
          </p:cNvPr>
          <p:cNvSpPr txBox="1"/>
          <p:nvPr/>
        </p:nvSpPr>
        <p:spPr>
          <a:xfrm>
            <a:off x="413766" y="4177927"/>
            <a:ext cx="6094476" cy="400110"/>
          </a:xfrm>
          <a:prstGeom prst="rect">
            <a:avLst/>
          </a:prstGeom>
          <a:noFill/>
        </p:spPr>
        <p:txBody>
          <a:bodyPr wrap="square">
            <a:spAutoFit/>
          </a:bodyPr>
          <a:lstStyle/>
          <a:p>
            <a:r>
              <a:rPr lang="en-US" sz="2000" b="1" u="sng" dirty="0"/>
              <a:t>Uses of Fedora</a:t>
            </a:r>
          </a:p>
        </p:txBody>
      </p:sp>
      <p:sp>
        <p:nvSpPr>
          <p:cNvPr id="13" name="Rectangle 2">
            <a:extLst>
              <a:ext uri="{FF2B5EF4-FFF2-40B4-BE49-F238E27FC236}">
                <a16:creationId xmlns:a16="http://schemas.microsoft.com/office/drawing/2014/main" id="{20287BEE-A347-4350-B0B1-AE42ADF8652C}"/>
              </a:ext>
            </a:extLst>
          </p:cNvPr>
          <p:cNvSpPr>
            <a:spLocks noChangeArrowheads="1"/>
          </p:cNvSpPr>
          <p:nvPr/>
        </p:nvSpPr>
        <p:spPr bwMode="auto">
          <a:xfrm>
            <a:off x="301752" y="4658070"/>
            <a:ext cx="3775393"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1"/>
                </a:solidFill>
                <a:effectLst/>
                <a:latin typeface="Arial" panose="020B0604020202020204" pitchFamily="34" charset="0"/>
              </a:rPr>
              <a:t>- Software development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1"/>
                </a:solidFill>
                <a:effectLst/>
                <a:latin typeface="Arial" panose="020B0604020202020204" pitchFamily="34" charset="0"/>
              </a:rPr>
              <a:t>- Testing new Linux technologies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1"/>
                </a:solidFill>
                <a:effectLst/>
                <a:latin typeface="Arial" panose="020B0604020202020204" pitchFamily="34" charset="0"/>
              </a:rPr>
              <a:t>- Desktop and server environments</a:t>
            </a:r>
          </a:p>
        </p:txBody>
      </p:sp>
      <p:sp>
        <p:nvSpPr>
          <p:cNvPr id="15" name="TextBox 14">
            <a:extLst>
              <a:ext uri="{FF2B5EF4-FFF2-40B4-BE49-F238E27FC236}">
                <a16:creationId xmlns:a16="http://schemas.microsoft.com/office/drawing/2014/main" id="{9EB2CC08-5858-A901-A861-3BD831C87966}"/>
              </a:ext>
            </a:extLst>
          </p:cNvPr>
          <p:cNvSpPr txBox="1"/>
          <p:nvPr/>
        </p:nvSpPr>
        <p:spPr>
          <a:xfrm>
            <a:off x="6307074" y="199382"/>
            <a:ext cx="6094476" cy="523220"/>
          </a:xfrm>
          <a:prstGeom prst="rect">
            <a:avLst/>
          </a:prstGeom>
          <a:noFill/>
        </p:spPr>
        <p:txBody>
          <a:bodyPr wrap="square">
            <a:spAutoFit/>
          </a:bodyPr>
          <a:lstStyle/>
          <a:p>
            <a:r>
              <a:rPr lang="en-US" sz="2800" b="1" u="sng" dirty="0"/>
              <a:t>Overview of CentOS</a:t>
            </a:r>
          </a:p>
        </p:txBody>
      </p:sp>
      <p:sp>
        <p:nvSpPr>
          <p:cNvPr id="17" name="TextBox 16">
            <a:extLst>
              <a:ext uri="{FF2B5EF4-FFF2-40B4-BE49-F238E27FC236}">
                <a16:creationId xmlns:a16="http://schemas.microsoft.com/office/drawing/2014/main" id="{5FEA2D74-C1D4-8942-8449-620A82A9A11C}"/>
              </a:ext>
            </a:extLst>
          </p:cNvPr>
          <p:cNvSpPr txBox="1"/>
          <p:nvPr/>
        </p:nvSpPr>
        <p:spPr>
          <a:xfrm>
            <a:off x="6304788" y="722602"/>
            <a:ext cx="6300216" cy="646331"/>
          </a:xfrm>
          <a:prstGeom prst="rect">
            <a:avLst/>
          </a:prstGeom>
          <a:noFill/>
        </p:spPr>
        <p:txBody>
          <a:bodyPr wrap="square">
            <a:spAutoFit/>
          </a:bodyPr>
          <a:lstStyle/>
          <a:p>
            <a:r>
              <a:rPr lang="en-US" dirty="0"/>
              <a:t>CentOS (Community Enterprise Operating System) is a Linux distribution derived from Red Hat Enterprise Linux (RHEL).</a:t>
            </a:r>
          </a:p>
        </p:txBody>
      </p:sp>
      <p:sp>
        <p:nvSpPr>
          <p:cNvPr id="19" name="TextBox 18">
            <a:extLst>
              <a:ext uri="{FF2B5EF4-FFF2-40B4-BE49-F238E27FC236}">
                <a16:creationId xmlns:a16="http://schemas.microsoft.com/office/drawing/2014/main" id="{6F071B91-3993-9FCD-4DBA-FCEEC31ACCCA}"/>
              </a:ext>
            </a:extLst>
          </p:cNvPr>
          <p:cNvSpPr txBox="1"/>
          <p:nvPr/>
        </p:nvSpPr>
        <p:spPr>
          <a:xfrm>
            <a:off x="6362750" y="1346382"/>
            <a:ext cx="6304788" cy="400110"/>
          </a:xfrm>
          <a:prstGeom prst="rect">
            <a:avLst/>
          </a:prstGeom>
          <a:noFill/>
        </p:spPr>
        <p:txBody>
          <a:bodyPr wrap="square">
            <a:spAutoFit/>
          </a:bodyPr>
          <a:lstStyle/>
          <a:p>
            <a:r>
              <a:rPr lang="en-US" sz="2000" b="1" u="sng" dirty="0"/>
              <a:t>Key Features of CentOS</a:t>
            </a:r>
          </a:p>
        </p:txBody>
      </p:sp>
      <p:sp>
        <p:nvSpPr>
          <p:cNvPr id="20" name="Rectangle 3">
            <a:extLst>
              <a:ext uri="{FF2B5EF4-FFF2-40B4-BE49-F238E27FC236}">
                <a16:creationId xmlns:a16="http://schemas.microsoft.com/office/drawing/2014/main" id="{5CA97FAE-BC05-EF62-F28F-169117281058}"/>
              </a:ext>
            </a:extLst>
          </p:cNvPr>
          <p:cNvSpPr>
            <a:spLocks noChangeArrowheads="1"/>
          </p:cNvSpPr>
          <p:nvPr/>
        </p:nvSpPr>
        <p:spPr bwMode="auto">
          <a:xfrm>
            <a:off x="6362750" y="1859339"/>
            <a:ext cx="3288080"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Enterprise-level stability</a:t>
            </a:r>
          </a:p>
          <a:p>
            <a:pPr marL="285750" marR="0" lvl="0" indent="-285750" algn="l" defTabSz="914400" rtl="0" eaLnBrk="0" fontAlgn="base" latinLnBrk="0" hangingPunct="0">
              <a:lnSpc>
                <a:spcPct val="100000"/>
              </a:lnSpc>
              <a:spcBef>
                <a:spcPct val="0"/>
              </a:spcBef>
              <a:spcAft>
                <a:spcPct val="0"/>
              </a:spcAft>
              <a:buClrTx/>
              <a:buSzTx/>
              <a:buFontTx/>
              <a:buChar char="-"/>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Free and open-source</a:t>
            </a:r>
          </a:p>
          <a:p>
            <a:pPr marL="285750" marR="0" lvl="0" indent="-285750" algn="l" defTabSz="914400" rtl="0" eaLnBrk="0" fontAlgn="base" latinLnBrk="0" hangingPunct="0">
              <a:lnSpc>
                <a:spcPct val="100000"/>
              </a:lnSpc>
              <a:spcBef>
                <a:spcPct val="0"/>
              </a:spcBef>
              <a:spcAft>
                <a:spcPct val="0"/>
              </a:spcAft>
              <a:buClrTx/>
              <a:buSzTx/>
              <a:buFontTx/>
              <a:buChar char="-"/>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Long-term support</a:t>
            </a:r>
          </a:p>
          <a:p>
            <a:pPr marL="285750" marR="0" lvl="0" indent="-285750" algn="l" defTabSz="914400" rtl="0" eaLnBrk="0" fontAlgn="base" latinLnBrk="0" hangingPunct="0">
              <a:lnSpc>
                <a:spcPct val="100000"/>
              </a:lnSpc>
              <a:spcBef>
                <a:spcPct val="0"/>
              </a:spcBef>
              <a:spcAft>
                <a:spcPct val="0"/>
              </a:spcAft>
              <a:buClrTx/>
              <a:buSzTx/>
              <a:buFontTx/>
              <a:buChar char="-"/>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1"/>
                </a:solidFill>
                <a:effectLst/>
                <a:latin typeface="Arial" panose="020B0604020202020204" pitchFamily="34" charset="0"/>
              </a:rPr>
              <a:t>- High compatibility with RHEL</a:t>
            </a:r>
          </a:p>
        </p:txBody>
      </p:sp>
      <p:sp>
        <p:nvSpPr>
          <p:cNvPr id="22" name="TextBox 21">
            <a:extLst>
              <a:ext uri="{FF2B5EF4-FFF2-40B4-BE49-F238E27FC236}">
                <a16:creationId xmlns:a16="http://schemas.microsoft.com/office/drawing/2014/main" id="{8DE80B03-8B89-175B-26AA-EC9CA81A7EA5}"/>
              </a:ext>
            </a:extLst>
          </p:cNvPr>
          <p:cNvSpPr txBox="1"/>
          <p:nvPr/>
        </p:nvSpPr>
        <p:spPr>
          <a:xfrm>
            <a:off x="6272784" y="4177926"/>
            <a:ext cx="6332220" cy="400110"/>
          </a:xfrm>
          <a:prstGeom prst="rect">
            <a:avLst/>
          </a:prstGeom>
          <a:noFill/>
        </p:spPr>
        <p:txBody>
          <a:bodyPr wrap="square">
            <a:spAutoFit/>
          </a:bodyPr>
          <a:lstStyle/>
          <a:p>
            <a:r>
              <a:rPr lang="en-US" sz="2000" b="1" u="sng" dirty="0"/>
              <a:t>Uses of CentOS</a:t>
            </a:r>
          </a:p>
        </p:txBody>
      </p:sp>
      <p:sp>
        <p:nvSpPr>
          <p:cNvPr id="23" name="Rectangle 4">
            <a:extLst>
              <a:ext uri="{FF2B5EF4-FFF2-40B4-BE49-F238E27FC236}">
                <a16:creationId xmlns:a16="http://schemas.microsoft.com/office/drawing/2014/main" id="{E76F0BED-F747-AB5A-B0D0-ECFF426691FC}"/>
              </a:ext>
            </a:extLst>
          </p:cNvPr>
          <p:cNvSpPr>
            <a:spLocks noChangeArrowheads="1"/>
          </p:cNvSpPr>
          <p:nvPr/>
        </p:nvSpPr>
        <p:spPr bwMode="auto">
          <a:xfrm>
            <a:off x="6362750" y="4658070"/>
            <a:ext cx="2762295"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Web servers</a:t>
            </a:r>
          </a:p>
          <a:p>
            <a:pPr marL="285750" marR="0" lvl="0" indent="-285750" algn="l" defTabSz="914400" rtl="0" eaLnBrk="0" fontAlgn="base" latinLnBrk="0" hangingPunct="0">
              <a:lnSpc>
                <a:spcPct val="100000"/>
              </a:lnSpc>
              <a:spcBef>
                <a:spcPct val="0"/>
              </a:spcBef>
              <a:spcAft>
                <a:spcPct val="0"/>
              </a:spcAft>
              <a:buClrTx/>
              <a:buSzTx/>
              <a:buFontTx/>
              <a:buChar char="-"/>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Enterprise environments</a:t>
            </a:r>
          </a:p>
          <a:p>
            <a:pPr marL="285750" marR="0" lvl="0" indent="-285750" algn="l" defTabSz="914400" rtl="0" eaLnBrk="0" fontAlgn="base" latinLnBrk="0" hangingPunct="0">
              <a:lnSpc>
                <a:spcPct val="100000"/>
              </a:lnSpc>
              <a:spcBef>
                <a:spcPct val="0"/>
              </a:spcBef>
              <a:spcAft>
                <a:spcPct val="0"/>
              </a:spcAft>
              <a:buClrTx/>
              <a:buSzTx/>
              <a:buFontTx/>
              <a:buChar char="-"/>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1"/>
                </a:solidFill>
                <a:effectLst/>
                <a:latin typeface="Arial" panose="020B0604020202020204" pitchFamily="34" charset="0"/>
              </a:rPr>
              <a:t>- Data centers</a:t>
            </a:r>
          </a:p>
        </p:txBody>
      </p:sp>
    </p:spTree>
    <p:extLst>
      <p:ext uri="{BB962C8B-B14F-4D97-AF65-F5344CB8AC3E}">
        <p14:creationId xmlns:p14="http://schemas.microsoft.com/office/powerpoint/2010/main" val="169453755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F46216B-77A9-411A-B9D3-5023FCB70208}"/>
    </a:ext>
  </a:extLst>
</a:theme>
</file>

<file path=docProps/app.xml><?xml version="1.0" encoding="utf-8"?>
<Properties xmlns="http://schemas.openxmlformats.org/officeDocument/2006/extended-properties" xmlns:vt="http://schemas.openxmlformats.org/officeDocument/2006/docPropsVTypes">
  <Template>Office 2013 - 2022 Theme</Template>
  <TotalTime>3</TotalTime>
  <Words>486</Words>
  <Application>Microsoft Office PowerPoint</Application>
  <PresentationFormat>Widescreen</PresentationFormat>
  <Paragraphs>68</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Amit Kumar</dc:creator>
  <cp:lastModifiedBy>Amit Kumar</cp:lastModifiedBy>
  <cp:revision>1</cp:revision>
  <dcterms:created xsi:type="dcterms:W3CDTF">2025-12-17T04:14:03Z</dcterms:created>
  <dcterms:modified xsi:type="dcterms:W3CDTF">2025-12-17T04:18:01Z</dcterms:modified>
</cp:coreProperties>
</file>