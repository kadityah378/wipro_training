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6B1A3E-94FC-4CE3-A5F0-5B4627EE915A}" v="1" dt="2025-12-12T07:03:54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5" d="100"/>
          <a:sy n="85" d="100"/>
        </p:scale>
        <p:origin x="40" y="-7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t Kumar" userId="6066d4fb90f8d42e" providerId="LiveId" clId="{563C5199-4FFF-42FE-B14E-11E5D6E75B8A}"/>
    <pc:docChg chg="modSld">
      <pc:chgData name="Amit Kumar" userId="6066d4fb90f8d42e" providerId="LiveId" clId="{563C5199-4FFF-42FE-B14E-11E5D6E75B8A}" dt="2025-12-12T07:05:02.110" v="19" actId="20577"/>
      <pc:docMkLst>
        <pc:docMk/>
      </pc:docMkLst>
      <pc:sldChg chg="modSp mod">
        <pc:chgData name="Amit Kumar" userId="6066d4fb90f8d42e" providerId="LiveId" clId="{563C5199-4FFF-42FE-B14E-11E5D6E75B8A}" dt="2025-12-12T07:05:02.110" v="19" actId="20577"/>
        <pc:sldMkLst>
          <pc:docMk/>
          <pc:sldMk cId="3640075183" sldId="256"/>
        </pc:sldMkLst>
        <pc:spChg chg="mod">
          <ac:chgData name="Amit Kumar" userId="6066d4fb90f8d42e" providerId="LiveId" clId="{563C5199-4FFF-42FE-B14E-11E5D6E75B8A}" dt="2025-12-12T07:04:29.238" v="3" actId="20577"/>
          <ac:spMkLst>
            <pc:docMk/>
            <pc:sldMk cId="3640075183" sldId="256"/>
            <ac:spMk id="7" creationId="{6D25D186-FAC1-C1C6-7F99-4425154283EF}"/>
          </ac:spMkLst>
        </pc:spChg>
        <pc:spChg chg="mod">
          <ac:chgData name="Amit Kumar" userId="6066d4fb90f8d42e" providerId="LiveId" clId="{563C5199-4FFF-42FE-B14E-11E5D6E75B8A}" dt="2025-12-12T07:04:37.216" v="7" actId="20577"/>
          <ac:spMkLst>
            <pc:docMk/>
            <pc:sldMk cId="3640075183" sldId="256"/>
            <ac:spMk id="9" creationId="{A43C6E50-D672-013C-B3AD-22BEEDBFDC9E}"/>
          </ac:spMkLst>
        </pc:spChg>
        <pc:spChg chg="mod">
          <ac:chgData name="Amit Kumar" userId="6066d4fb90f8d42e" providerId="LiveId" clId="{563C5199-4FFF-42FE-B14E-11E5D6E75B8A}" dt="2025-12-12T07:04:46.752" v="11" actId="20577"/>
          <ac:spMkLst>
            <pc:docMk/>
            <pc:sldMk cId="3640075183" sldId="256"/>
            <ac:spMk id="11" creationId="{1FF8E9FD-59F7-D96B-7DD0-966FED4864A7}"/>
          </ac:spMkLst>
        </pc:spChg>
        <pc:spChg chg="mod">
          <ac:chgData name="Amit Kumar" userId="6066d4fb90f8d42e" providerId="LiveId" clId="{563C5199-4FFF-42FE-B14E-11E5D6E75B8A}" dt="2025-12-12T07:05:02.110" v="19" actId="20577"/>
          <ac:spMkLst>
            <pc:docMk/>
            <pc:sldMk cId="3640075183" sldId="256"/>
            <ac:spMk id="13" creationId="{AAE0B6BC-2E80-11CA-1C6C-71BFBCCCEFCA}"/>
          </ac:spMkLst>
        </pc:spChg>
        <pc:spChg chg="mod">
          <ac:chgData name="Amit Kumar" userId="6066d4fb90f8d42e" providerId="LiveId" clId="{563C5199-4FFF-42FE-B14E-11E5D6E75B8A}" dt="2025-12-12T07:04:52.889" v="15" actId="20577"/>
          <ac:spMkLst>
            <pc:docMk/>
            <pc:sldMk cId="3640075183" sldId="256"/>
            <ac:spMk id="15" creationId="{F481383C-84B5-C64B-493D-FD9E506264F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2A74-22DD-493C-98C5-B4B9F2C4037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579AE-C172-457D-BACD-5997BAF52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962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2A74-22DD-493C-98C5-B4B9F2C4037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579AE-C172-457D-BACD-5997BAF52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40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2A74-22DD-493C-98C5-B4B9F2C4037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579AE-C172-457D-BACD-5997BAF52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153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2A74-22DD-493C-98C5-B4B9F2C4037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579AE-C172-457D-BACD-5997BAF52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065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2A74-22DD-493C-98C5-B4B9F2C4037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579AE-C172-457D-BACD-5997BAF52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960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2A74-22DD-493C-98C5-B4B9F2C4037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579AE-C172-457D-BACD-5997BAF52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243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2A74-22DD-493C-98C5-B4B9F2C4037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579AE-C172-457D-BACD-5997BAF52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437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2A74-22DD-493C-98C5-B4B9F2C4037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579AE-C172-457D-BACD-5997BAF52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47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2A74-22DD-493C-98C5-B4B9F2C4037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579AE-C172-457D-BACD-5997BAF52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24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2A74-22DD-493C-98C5-B4B9F2C4037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579AE-C172-457D-BACD-5997BAF52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14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2A74-22DD-493C-98C5-B4B9F2C4037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579AE-C172-457D-BACD-5997BAF52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352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252A74-22DD-493C-98C5-B4B9F2C4037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E579AE-C172-457D-BACD-5997BAF52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5592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615B9E-ED5E-1450-D59A-2F27B32687DC}"/>
              </a:ext>
            </a:extLst>
          </p:cNvPr>
          <p:cNvSpPr txBox="1"/>
          <p:nvPr/>
        </p:nvSpPr>
        <p:spPr>
          <a:xfrm>
            <a:off x="3595878" y="-5509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Software Development Life Cycle (SDLC)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25D186-FAC1-C1C6-7F99-4425154283EF}"/>
              </a:ext>
            </a:extLst>
          </p:cNvPr>
          <p:cNvSpPr txBox="1"/>
          <p:nvPr/>
        </p:nvSpPr>
        <p:spPr>
          <a:xfrm>
            <a:off x="322325" y="429504"/>
            <a:ext cx="426872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u="sng" dirty="0"/>
              <a:t>1. Requirements Phase</a:t>
            </a:r>
          </a:p>
          <a:p>
            <a:pPr>
              <a:buNone/>
            </a:pPr>
            <a:r>
              <a:rPr lang="en-US" sz="1400" b="1" i="1" dirty="0"/>
              <a:t>Purpose:</a:t>
            </a:r>
            <a:r>
              <a:rPr lang="en-US" sz="1400" b="1" dirty="0"/>
              <a:t> To understand what the client or end‑user needs.</a:t>
            </a:r>
          </a:p>
          <a:p>
            <a:r>
              <a:rPr lang="en-US" sz="1400" dirty="0"/>
              <a:t>-Gathering detailed requirements from stakeholders.</a:t>
            </a:r>
          </a:p>
          <a:p>
            <a:r>
              <a:rPr lang="en-US" sz="1400" dirty="0"/>
              <a:t>-Documenting features, use cases, and workflow expectations.</a:t>
            </a:r>
          </a:p>
          <a:p>
            <a:pPr>
              <a:buNone/>
            </a:pPr>
            <a:r>
              <a:rPr lang="en-US" sz="1400" b="1" dirty="0"/>
              <a:t>Importance:</a:t>
            </a:r>
            <a:r>
              <a:rPr lang="en-US" sz="1400" dirty="0"/>
              <a:t> Clear requirements prevent confusion and reduce development errors.</a:t>
            </a:r>
          </a:p>
          <a:p>
            <a:pPr>
              <a:buNone/>
            </a:pPr>
            <a:r>
              <a:rPr lang="en-US" sz="1400" b="1" dirty="0"/>
              <a:t>Connection:</a:t>
            </a:r>
            <a:r>
              <a:rPr lang="en-US" sz="1400" dirty="0"/>
              <a:t> Output becomes the input for the Design phase.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3C6E50-D672-013C-B3AD-22BEEDBFDC9E}"/>
              </a:ext>
            </a:extLst>
          </p:cNvPr>
          <p:cNvSpPr txBox="1"/>
          <p:nvPr/>
        </p:nvSpPr>
        <p:spPr>
          <a:xfrm>
            <a:off x="7765160" y="825180"/>
            <a:ext cx="426872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u="sng" dirty="0"/>
              <a:t>2. Design Phase</a:t>
            </a:r>
          </a:p>
          <a:p>
            <a:pPr>
              <a:buNone/>
            </a:pPr>
            <a:r>
              <a:rPr lang="en-US" sz="1400" b="1" i="1" dirty="0"/>
              <a:t>Purpose:</a:t>
            </a:r>
            <a:r>
              <a:rPr lang="en-US" sz="1400" b="1" dirty="0"/>
              <a:t> To plan how the system will work internally and externally.</a:t>
            </a:r>
          </a:p>
          <a:p>
            <a:r>
              <a:rPr lang="en-US" sz="1400" dirty="0"/>
              <a:t>-Creating system architecture, UI design, and database structure.</a:t>
            </a:r>
          </a:p>
          <a:p>
            <a:r>
              <a:rPr lang="en-US" sz="1400" dirty="0"/>
              <a:t>-Defining components, modules, and data flow.</a:t>
            </a:r>
          </a:p>
          <a:p>
            <a:pPr>
              <a:buNone/>
            </a:pPr>
            <a:r>
              <a:rPr lang="en-US" sz="1400" b="1" dirty="0"/>
              <a:t>Importance:</a:t>
            </a:r>
            <a:r>
              <a:rPr lang="en-US" sz="1400" dirty="0"/>
              <a:t> Ensures developers know </a:t>
            </a:r>
            <a:r>
              <a:rPr lang="en-US" sz="1400" i="1" dirty="0"/>
              <a:t>how</a:t>
            </a:r>
            <a:r>
              <a:rPr lang="en-US" sz="1400" dirty="0"/>
              <a:t> to build the software.</a:t>
            </a:r>
          </a:p>
          <a:p>
            <a:pPr>
              <a:buNone/>
            </a:pPr>
            <a:r>
              <a:rPr lang="en-US" sz="1400" b="1" dirty="0"/>
              <a:t>Connection:</a:t>
            </a:r>
            <a:r>
              <a:rPr lang="en-US" sz="1400" dirty="0"/>
              <a:t> Approved design leads directly to the Implementation phase.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F8E9FD-59F7-D96B-7DD0-966FED4864A7}"/>
              </a:ext>
            </a:extLst>
          </p:cNvPr>
          <p:cNvSpPr txBox="1"/>
          <p:nvPr/>
        </p:nvSpPr>
        <p:spPr>
          <a:xfrm>
            <a:off x="322325" y="3274420"/>
            <a:ext cx="609447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u="sng" dirty="0"/>
              <a:t>3. Implementation (Coding) Phase</a:t>
            </a:r>
          </a:p>
          <a:p>
            <a:pPr>
              <a:buNone/>
            </a:pPr>
            <a:r>
              <a:rPr lang="en-US" sz="1400" b="1" i="1" dirty="0"/>
              <a:t>Purpose:</a:t>
            </a:r>
            <a:r>
              <a:rPr lang="en-US" sz="1400" b="1" dirty="0"/>
              <a:t> To develop the actual software product.</a:t>
            </a:r>
          </a:p>
          <a:p>
            <a:r>
              <a:rPr lang="en-US" sz="1400" dirty="0"/>
              <a:t>-Developers write code based on design documents.</a:t>
            </a:r>
          </a:p>
          <a:p>
            <a:r>
              <a:rPr lang="en-US" sz="1400" dirty="0"/>
              <a:t>-Integration of frontend, backend, and database.</a:t>
            </a:r>
          </a:p>
          <a:p>
            <a:pPr>
              <a:buNone/>
            </a:pPr>
            <a:r>
              <a:rPr lang="en-US" sz="1400" b="1" dirty="0"/>
              <a:t>Importance:</a:t>
            </a:r>
            <a:r>
              <a:rPr lang="en-US" sz="1400" dirty="0"/>
              <a:t> Converts ideas and designs into a working application.</a:t>
            </a:r>
          </a:p>
          <a:p>
            <a:pPr>
              <a:buNone/>
            </a:pPr>
            <a:r>
              <a:rPr lang="en-US" sz="1400" b="1" dirty="0"/>
              <a:t>Connection:</a:t>
            </a:r>
            <a:r>
              <a:rPr lang="en-US" sz="1400" dirty="0"/>
              <a:t> The developed product must be tested next, leading to the Testing phase.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E0B6BC-2E80-11CA-1C6C-71BFBCCCEFCA}"/>
              </a:ext>
            </a:extLst>
          </p:cNvPr>
          <p:cNvSpPr txBox="1"/>
          <p:nvPr/>
        </p:nvSpPr>
        <p:spPr>
          <a:xfrm>
            <a:off x="8312277" y="3786052"/>
            <a:ext cx="304495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u="sng" dirty="0"/>
              <a:t>4. Testing Phase</a:t>
            </a:r>
          </a:p>
          <a:p>
            <a:pPr>
              <a:buNone/>
            </a:pPr>
            <a:r>
              <a:rPr lang="en-US" sz="1400" b="1" i="1" dirty="0"/>
              <a:t>Purpose:</a:t>
            </a:r>
            <a:r>
              <a:rPr lang="en-US" sz="1400" b="1" dirty="0"/>
              <a:t> To verify that the software functions correctly and meets requirements.</a:t>
            </a:r>
          </a:p>
          <a:p>
            <a:r>
              <a:rPr lang="en-US" sz="1400" dirty="0"/>
              <a:t>-Functional testing, regression testing, performance testing.</a:t>
            </a:r>
          </a:p>
          <a:p>
            <a:r>
              <a:rPr lang="en-US" sz="1400" dirty="0"/>
              <a:t>-Bugs and issues are identified and fixed.</a:t>
            </a:r>
          </a:p>
          <a:p>
            <a:pPr>
              <a:buNone/>
            </a:pPr>
            <a:r>
              <a:rPr lang="en-US" sz="1400" b="1" dirty="0"/>
              <a:t>Importance:</a:t>
            </a:r>
            <a:r>
              <a:rPr lang="en-US" sz="1400" dirty="0"/>
              <a:t> Ensures software quality, reliability, and user satisfaction.</a:t>
            </a:r>
          </a:p>
          <a:p>
            <a:pPr>
              <a:buNone/>
            </a:pPr>
            <a:r>
              <a:rPr lang="en-US" sz="1400" b="1" dirty="0"/>
              <a:t>Connection:</a:t>
            </a:r>
            <a:r>
              <a:rPr lang="en-US" sz="1400" dirty="0"/>
              <a:t> Only after successful testing can the software move to Deployment.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1383C-84B5-C64B-493D-FD9E506264F0}"/>
              </a:ext>
            </a:extLst>
          </p:cNvPr>
          <p:cNvSpPr txBox="1"/>
          <p:nvPr/>
        </p:nvSpPr>
        <p:spPr>
          <a:xfrm>
            <a:off x="280416" y="5147834"/>
            <a:ext cx="581558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u="sng" dirty="0"/>
              <a:t>5. Deployment Phase</a:t>
            </a:r>
          </a:p>
          <a:p>
            <a:pPr>
              <a:buNone/>
            </a:pPr>
            <a:r>
              <a:rPr lang="en-US" sz="1400" b="1" i="1" dirty="0"/>
              <a:t>Purpose:</a:t>
            </a:r>
            <a:r>
              <a:rPr lang="en-US" sz="1400" b="1" dirty="0"/>
              <a:t> To release the software to users.</a:t>
            </a:r>
          </a:p>
          <a:p>
            <a:r>
              <a:rPr lang="en-US" sz="1400" dirty="0"/>
              <a:t>-Deployment to production environment.</a:t>
            </a:r>
          </a:p>
          <a:p>
            <a:r>
              <a:rPr lang="en-US" sz="1400" dirty="0"/>
              <a:t>-Monitoring initial performance.</a:t>
            </a:r>
          </a:p>
          <a:p>
            <a:pPr>
              <a:buNone/>
            </a:pPr>
            <a:r>
              <a:rPr lang="en-US" sz="1400" b="1" dirty="0"/>
              <a:t>Importance:</a:t>
            </a:r>
            <a:r>
              <a:rPr lang="en-US" sz="1400" dirty="0"/>
              <a:t> Makes the product available for real-world use.</a:t>
            </a:r>
          </a:p>
          <a:p>
            <a:pPr>
              <a:buNone/>
            </a:pPr>
            <a:r>
              <a:rPr lang="en-US" sz="1400" b="1" dirty="0"/>
              <a:t>Connection:</a:t>
            </a:r>
            <a:r>
              <a:rPr lang="en-US" sz="1400" dirty="0"/>
              <a:t> After deployment, maintenance continues, and issues may loop back to previous phases.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3AB1473-0A76-A245-F7C2-07A8AB50E47A}"/>
              </a:ext>
            </a:extLst>
          </p:cNvPr>
          <p:cNvCxnSpPr>
            <a:stCxn id="7" idx="3"/>
          </p:cNvCxnSpPr>
          <p:nvPr/>
        </p:nvCxnSpPr>
        <p:spPr>
          <a:xfrm flipV="1">
            <a:off x="4591050" y="1552888"/>
            <a:ext cx="305665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5F374E8-63D7-9BC1-B9F2-50C05BD2D3AE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4106487" y="1948565"/>
            <a:ext cx="3658673" cy="1634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0C1A27C-623D-CB11-CD06-A1DC352BAC96}"/>
              </a:ext>
            </a:extLst>
          </p:cNvPr>
          <p:cNvCxnSpPr>
            <a:cxnSpLocks/>
          </p:cNvCxnSpPr>
          <p:nvPr/>
        </p:nvCxnSpPr>
        <p:spPr>
          <a:xfrm>
            <a:off x="4622334" y="3707934"/>
            <a:ext cx="3573710" cy="1166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C08D054-34AD-AF32-E912-B4FDC043949A}"/>
              </a:ext>
            </a:extLst>
          </p:cNvPr>
          <p:cNvCxnSpPr>
            <a:cxnSpLocks/>
          </p:cNvCxnSpPr>
          <p:nvPr/>
        </p:nvCxnSpPr>
        <p:spPr>
          <a:xfrm flipH="1">
            <a:off x="4462943" y="5147834"/>
            <a:ext cx="3733101" cy="581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35E7CAC-CBDB-CCB4-5538-00CD8E0591B6}"/>
              </a:ext>
            </a:extLst>
          </p:cNvPr>
          <p:cNvSpPr txBox="1"/>
          <p:nvPr/>
        </p:nvSpPr>
        <p:spPr>
          <a:xfrm>
            <a:off x="4553651" y="1300681"/>
            <a:ext cx="609460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Requirements guide architectural and UI decisions.</a:t>
            </a:r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777A73C1-F921-AEEA-5076-A8D642C99FF3}"/>
              </a:ext>
            </a:extLst>
          </p:cNvPr>
          <p:cNvSpPr>
            <a:spLocks noChangeArrowheads="1"/>
          </p:cNvSpPr>
          <p:nvPr/>
        </p:nvSpPr>
        <p:spPr bwMode="auto">
          <a:xfrm rot="20205260">
            <a:off x="4395545" y="2456789"/>
            <a:ext cx="3389651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Developers follow design specs to write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5F5C8E1-9518-C6F0-537D-1F55B02B6C6A}"/>
              </a:ext>
            </a:extLst>
          </p:cNvPr>
          <p:cNvSpPr txBox="1"/>
          <p:nvPr/>
        </p:nvSpPr>
        <p:spPr>
          <a:xfrm rot="1135103">
            <a:off x="4776575" y="4327449"/>
            <a:ext cx="48551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Testers validate coded features against requirements.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B70F7C-F479-9A8E-1E2E-F3FF93D0EE64}"/>
              </a:ext>
            </a:extLst>
          </p:cNvPr>
          <p:cNvSpPr txBox="1"/>
          <p:nvPr/>
        </p:nvSpPr>
        <p:spPr>
          <a:xfrm rot="21066116">
            <a:off x="4865298" y="4971144"/>
            <a:ext cx="609460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Only a stable product is moved to production</a:t>
            </a:r>
          </a:p>
        </p:txBody>
      </p:sp>
    </p:spTree>
    <p:extLst>
      <p:ext uri="{BB962C8B-B14F-4D97-AF65-F5344CB8AC3E}">
        <p14:creationId xmlns:p14="http://schemas.microsoft.com/office/powerpoint/2010/main" val="3640075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329</Words>
  <Application>Microsoft Office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Kumar</dc:creator>
  <cp:lastModifiedBy>Amit Kumar</cp:lastModifiedBy>
  <cp:revision>1</cp:revision>
  <dcterms:created xsi:type="dcterms:W3CDTF">2025-12-12T07:03:33Z</dcterms:created>
  <dcterms:modified xsi:type="dcterms:W3CDTF">2025-12-12T07:05:04Z</dcterms:modified>
</cp:coreProperties>
</file>