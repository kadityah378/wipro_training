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Kumar" userId="6066d4fb90f8d42e" providerId="LiveId" clId="{563C5199-4FFF-42FE-B14E-11E5D6E75B8A}"/>
    <pc:docChg chg="modSld">
      <pc:chgData name="Amit Kumar" userId="6066d4fb90f8d42e" providerId="LiveId" clId="{563C5199-4FFF-42FE-B14E-11E5D6E75B8A}" dt="2025-12-12T11:39:55.742" v="5" actId="1036"/>
      <pc:docMkLst>
        <pc:docMk/>
      </pc:docMkLst>
      <pc:sldChg chg="modSp mod">
        <pc:chgData name="Amit Kumar" userId="6066d4fb90f8d42e" providerId="LiveId" clId="{563C5199-4FFF-42FE-B14E-11E5D6E75B8A}" dt="2025-12-12T11:39:55.742" v="5" actId="1036"/>
        <pc:sldMkLst>
          <pc:docMk/>
          <pc:sldMk cId="2359595208" sldId="259"/>
        </pc:sldMkLst>
        <pc:spChg chg="mod">
          <ac:chgData name="Amit Kumar" userId="6066d4fb90f8d42e" providerId="LiveId" clId="{563C5199-4FFF-42FE-B14E-11E5D6E75B8A}" dt="2025-12-12T11:39:32.975" v="1" actId="1076"/>
          <ac:spMkLst>
            <pc:docMk/>
            <pc:sldMk cId="2359595208" sldId="259"/>
            <ac:spMk id="5" creationId="{B36A2EB1-EE71-0B68-669D-ED28D8A0FC6D}"/>
          </ac:spMkLst>
        </pc:spChg>
        <pc:spChg chg="mod">
          <ac:chgData name="Amit Kumar" userId="6066d4fb90f8d42e" providerId="LiveId" clId="{563C5199-4FFF-42FE-B14E-11E5D6E75B8A}" dt="2025-12-12T11:39:37.166" v="2" actId="1076"/>
          <ac:spMkLst>
            <pc:docMk/>
            <pc:sldMk cId="2359595208" sldId="259"/>
            <ac:spMk id="7" creationId="{24CEF642-2A16-3BB0-7748-4F1C754B0741}"/>
          </ac:spMkLst>
        </pc:spChg>
        <pc:spChg chg="mod">
          <ac:chgData name="Amit Kumar" userId="6066d4fb90f8d42e" providerId="LiveId" clId="{563C5199-4FFF-42FE-B14E-11E5D6E75B8A}" dt="2025-12-12T11:39:44.570" v="3" actId="1076"/>
          <ac:spMkLst>
            <pc:docMk/>
            <pc:sldMk cId="2359595208" sldId="259"/>
            <ac:spMk id="9" creationId="{D0700EEB-7337-1A7A-1D76-35519C367C6F}"/>
          </ac:spMkLst>
        </pc:spChg>
        <pc:spChg chg="mod">
          <ac:chgData name="Amit Kumar" userId="6066d4fb90f8d42e" providerId="LiveId" clId="{563C5199-4FFF-42FE-B14E-11E5D6E75B8A}" dt="2025-12-12T11:39:29.180" v="0" actId="1076"/>
          <ac:spMkLst>
            <pc:docMk/>
            <pc:sldMk cId="2359595208" sldId="259"/>
            <ac:spMk id="11" creationId="{1CE61B4E-2E4D-7BF0-E14E-0B1A0590CBEE}"/>
          </ac:spMkLst>
        </pc:spChg>
        <pc:picChg chg="mod">
          <ac:chgData name="Amit Kumar" userId="6066d4fb90f8d42e" providerId="LiveId" clId="{563C5199-4FFF-42FE-B14E-11E5D6E75B8A}" dt="2025-12-12T11:39:55.742" v="5" actId="1036"/>
          <ac:picMkLst>
            <pc:docMk/>
            <pc:sldMk cId="2359595208" sldId="259"/>
            <ac:picMk id="13" creationId="{CF8A83B8-6D94-B623-FA9A-AF365FBE4D7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8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5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1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0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4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3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55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7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7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0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C8C9D-D202-4790-B4BB-8762BB53677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14314-8EC6-4119-A3C3-E8F1199F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854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E95BF9-D71E-19EF-115D-DF6FBE08DF3E}"/>
              </a:ext>
            </a:extLst>
          </p:cNvPr>
          <p:cNvSpPr txBox="1"/>
          <p:nvPr/>
        </p:nvSpPr>
        <p:spPr>
          <a:xfrm>
            <a:off x="337783" y="369931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Waterfall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87671-6FA2-3CCD-693E-2655756F1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065" y="0"/>
            <a:ext cx="5583936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D401A2-A68F-BFE1-A06E-19248E6A6BD6}"/>
              </a:ext>
            </a:extLst>
          </p:cNvPr>
          <p:cNvSpPr txBox="1"/>
          <p:nvPr/>
        </p:nvSpPr>
        <p:spPr>
          <a:xfrm>
            <a:off x="337783" y="1098687"/>
            <a:ext cx="63399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Waterfall Model</a:t>
            </a:r>
            <a:r>
              <a:rPr lang="en-US" dirty="0"/>
              <a:t> is a linear and sequential SDLC model. Each phase must be completed before moving to the next. Requirements are fixed and clear from the beginning.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599046-B7F9-F90F-B0CC-225671136718}"/>
              </a:ext>
            </a:extLst>
          </p:cNvPr>
          <p:cNvSpPr txBox="1"/>
          <p:nvPr/>
        </p:nvSpPr>
        <p:spPr>
          <a:xfrm>
            <a:off x="337657" y="2351917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Phases follow one after another with no overlap.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Strict documentation.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projects with stable requirements.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71167C-8422-3815-6CC1-8D5916C83FEF}"/>
              </a:ext>
            </a:extLst>
          </p:cNvPr>
          <p:cNvSpPr txBox="1"/>
          <p:nvPr/>
        </p:nvSpPr>
        <p:spPr>
          <a:xfrm>
            <a:off x="337783" y="3882147"/>
            <a:ext cx="60946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Phases</a:t>
            </a:r>
          </a:p>
          <a:p>
            <a:pPr>
              <a:buFont typeface="+mj-lt"/>
              <a:buAutoNum type="arabicPeriod"/>
            </a:pPr>
            <a:r>
              <a:rPr lang="en-US" dirty="0"/>
              <a:t>Requirement Gathering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Design</a:t>
            </a:r>
          </a:p>
          <a:p>
            <a:pPr>
              <a:buFont typeface="+mj-lt"/>
              <a:buAutoNum type="arabicPeriod"/>
            </a:pPr>
            <a:r>
              <a:rPr lang="en-US" dirty="0"/>
              <a:t>Implementation (Coding)</a:t>
            </a:r>
          </a:p>
          <a:p>
            <a:pPr>
              <a:buFont typeface="+mj-lt"/>
              <a:buAutoNum type="arabicPeriod"/>
            </a:pPr>
            <a:r>
              <a:rPr lang="en-US" dirty="0"/>
              <a:t>Testing</a:t>
            </a:r>
          </a:p>
          <a:p>
            <a:pPr>
              <a:buFont typeface="+mj-lt"/>
              <a:buAutoNum type="arabicPeriod"/>
            </a:pPr>
            <a:r>
              <a:rPr lang="en-US" dirty="0"/>
              <a:t>Deployment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Maintenance</a:t>
            </a:r>
          </a:p>
        </p:txBody>
      </p:sp>
    </p:spTree>
    <p:extLst>
      <p:ext uri="{BB962C8B-B14F-4D97-AF65-F5344CB8AC3E}">
        <p14:creationId xmlns:p14="http://schemas.microsoft.com/office/powerpoint/2010/main" val="429170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02BB00C-B9B2-EDC7-5F51-B96B7747C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99"/>
          <a:stretch>
            <a:fillRect/>
          </a:stretch>
        </p:blipFill>
        <p:spPr>
          <a:xfrm>
            <a:off x="6366351" y="0"/>
            <a:ext cx="582425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7C38CA-D8E3-E1F7-E466-E9A617A2E965}"/>
              </a:ext>
            </a:extLst>
          </p:cNvPr>
          <p:cNvSpPr txBox="1"/>
          <p:nvPr/>
        </p:nvSpPr>
        <p:spPr>
          <a:xfrm>
            <a:off x="438325" y="1269160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and easy to understand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manage for small projects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5C83A-AC3E-D7B4-7C1E-C75555F490CA}"/>
              </a:ext>
            </a:extLst>
          </p:cNvPr>
          <p:cNvSpPr txBox="1"/>
          <p:nvPr/>
        </p:nvSpPr>
        <p:spPr>
          <a:xfrm>
            <a:off x="438325" y="2770072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Changes are difficult once a phase is completed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Testing happens late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suitable for dynamic or complex projects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7425B3-D977-2959-3799-0C1252049861}"/>
              </a:ext>
            </a:extLst>
          </p:cNvPr>
          <p:cNvSpPr txBox="1"/>
          <p:nvPr/>
        </p:nvSpPr>
        <p:spPr>
          <a:xfrm>
            <a:off x="438325" y="4571567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dirty="0"/>
              <a:t>A company wants to develop </a:t>
            </a:r>
            <a:r>
              <a:rPr lang="en-US" b="1" dirty="0"/>
              <a:t>software for school result generation</a:t>
            </a:r>
            <a:r>
              <a:rPr lang="en-US" dirty="0"/>
              <a:t>, where requirements are fixed (marks input, grade calculation). Waterfall works well because requirements will not change frequently.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2D43F-C85D-9DB7-8931-BFF0350FAA19}"/>
              </a:ext>
            </a:extLst>
          </p:cNvPr>
          <p:cNvSpPr txBox="1"/>
          <p:nvPr/>
        </p:nvSpPr>
        <p:spPr>
          <a:xfrm>
            <a:off x="438325" y="322246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Waterfall Model</a:t>
            </a:r>
          </a:p>
        </p:txBody>
      </p:sp>
    </p:spTree>
    <p:extLst>
      <p:ext uri="{BB962C8B-B14F-4D97-AF65-F5344CB8AC3E}">
        <p14:creationId xmlns:p14="http://schemas.microsoft.com/office/powerpoint/2010/main" val="3654419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ACEF84-2801-8598-EDB1-656740767AB7}"/>
              </a:ext>
            </a:extLst>
          </p:cNvPr>
          <p:cNvSpPr txBox="1"/>
          <p:nvPr/>
        </p:nvSpPr>
        <p:spPr>
          <a:xfrm>
            <a:off x="622883" y="201385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Agile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DA2C44-6501-9A52-C604-65CE9F3C7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474" y="0"/>
            <a:ext cx="6106853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F8DE17-FFB6-1BD8-10CD-30F2269C66FE}"/>
              </a:ext>
            </a:extLst>
          </p:cNvPr>
          <p:cNvSpPr txBox="1"/>
          <p:nvPr/>
        </p:nvSpPr>
        <p:spPr>
          <a:xfrm>
            <a:off x="621485" y="106551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Agile Model</a:t>
            </a:r>
            <a:r>
              <a:rPr lang="en-US" dirty="0"/>
              <a:t> is an iterative and incremental approach where software is developed in small cycles called </a:t>
            </a:r>
            <a:r>
              <a:rPr lang="en-US" b="1" dirty="0"/>
              <a:t>Sprints</a:t>
            </a:r>
            <a:r>
              <a:rPr lang="en-US" dirty="0"/>
              <a:t> (usually 1–4 weeks). Requirements are flexible and can change throughout the development process. Agile focuses on delivering working software quickly and continuously.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B38F8A-E1B7-20CB-C90B-A5DD4FA22DC8}"/>
              </a:ext>
            </a:extLst>
          </p:cNvPr>
          <p:cNvSpPr txBox="1"/>
          <p:nvPr/>
        </p:nvSpPr>
        <p:spPr>
          <a:xfrm>
            <a:off x="621485" y="265174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Development and testing occur simultaneously.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Continuous customer involvement.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Requirements can change at any stage.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Short development cycles.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collaboration among developers, testers, and clients.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23EE5A-090B-AD7D-B9F2-27DB5B39725A}"/>
              </a:ext>
            </a:extLst>
          </p:cNvPr>
          <p:cNvSpPr txBox="1"/>
          <p:nvPr/>
        </p:nvSpPr>
        <p:spPr>
          <a:xfrm>
            <a:off x="621485" y="451639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Process Flow</a:t>
            </a:r>
          </a:p>
          <a:p>
            <a:pPr>
              <a:buFont typeface="+mj-lt"/>
              <a:buAutoNum type="arabicPeriod"/>
            </a:pPr>
            <a:r>
              <a:rPr lang="en-US" dirty="0"/>
              <a:t>Requirement discussion (user stories)</a:t>
            </a:r>
          </a:p>
          <a:p>
            <a:pPr>
              <a:buFont typeface="+mj-lt"/>
              <a:buAutoNum type="arabicPeriod"/>
            </a:pPr>
            <a:r>
              <a:rPr lang="en-US" dirty="0"/>
              <a:t>Sprint planning</a:t>
            </a:r>
          </a:p>
          <a:p>
            <a:pPr>
              <a:buFont typeface="+mj-lt"/>
              <a:buAutoNum type="arabicPeriod"/>
            </a:pPr>
            <a:r>
              <a:rPr lang="en-US" dirty="0"/>
              <a:t>Development + testing</a:t>
            </a:r>
          </a:p>
          <a:p>
            <a:pPr>
              <a:buFont typeface="+mj-lt"/>
              <a:buAutoNum type="arabicPeriod"/>
            </a:pPr>
            <a:r>
              <a:rPr lang="en-US" dirty="0"/>
              <a:t>Sprint review</a:t>
            </a:r>
          </a:p>
          <a:p>
            <a:pPr>
              <a:buFont typeface="+mj-lt"/>
              <a:buAutoNum type="arabicPeriod"/>
            </a:pPr>
            <a:r>
              <a:rPr lang="en-US" dirty="0"/>
              <a:t>Retrospective</a:t>
            </a:r>
          </a:p>
          <a:p>
            <a:pPr>
              <a:buFont typeface="+mj-lt"/>
              <a:buAutoNum type="arabicPeriod"/>
            </a:pPr>
            <a:r>
              <a:rPr lang="en-US" dirty="0"/>
              <a:t>Next sprint begins</a:t>
            </a:r>
          </a:p>
        </p:txBody>
      </p:sp>
    </p:spTree>
    <p:extLst>
      <p:ext uri="{BB962C8B-B14F-4D97-AF65-F5344CB8AC3E}">
        <p14:creationId xmlns:p14="http://schemas.microsoft.com/office/powerpoint/2010/main" val="309026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F8A83B8-6D94-B623-FA9A-AF365FBE4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4" r="24461"/>
          <a:stretch>
            <a:fillRect/>
          </a:stretch>
        </p:blipFill>
        <p:spPr>
          <a:xfrm>
            <a:off x="4975950" y="18288"/>
            <a:ext cx="721605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6A2EB1-EE71-0B68-669D-ED28D8A0FC6D}"/>
              </a:ext>
            </a:extLst>
          </p:cNvPr>
          <p:cNvSpPr txBox="1"/>
          <p:nvPr/>
        </p:nvSpPr>
        <p:spPr>
          <a:xfrm>
            <a:off x="598279" y="94557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 delivery of working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Flexible to requirement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satisfaction is high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detection of defects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EF642-2A16-3BB0-7748-4F1C754B0741}"/>
              </a:ext>
            </a:extLst>
          </p:cNvPr>
          <p:cNvSpPr txBox="1"/>
          <p:nvPr/>
        </p:nvSpPr>
        <p:spPr>
          <a:xfrm>
            <a:off x="598279" y="250567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experienced team members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to predict exact time and cost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00EEB-7337-1A7A-1D76-35519C367C6F}"/>
              </a:ext>
            </a:extLst>
          </p:cNvPr>
          <p:cNvSpPr txBox="1"/>
          <p:nvPr/>
        </p:nvSpPr>
        <p:spPr>
          <a:xfrm>
            <a:off x="598279" y="37123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dirty="0"/>
              <a:t>A company wants to develop a </a:t>
            </a:r>
            <a:r>
              <a:rPr lang="en-US" b="1" dirty="0"/>
              <a:t>shopping mobile app</a:t>
            </a:r>
            <a:r>
              <a:rPr lang="en-US" dirty="0"/>
              <a:t> but is unsure about final features. They decide to use Agile. They create small sprints: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Sprint 1: Login, Signup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Sprint 2: Product listing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Sprint 3: Cart &amp; Checkout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Sprint 4: Payment integration</a:t>
            </a:r>
          </a:p>
          <a:p>
            <a:pPr>
              <a:buNone/>
            </a:pPr>
            <a:r>
              <a:rPr lang="en-US" dirty="0"/>
              <a:t>After each sprint, the client gives feedback and updates requirements.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61B4E-2E4D-7BF0-E14E-0B1A0590CBEE}"/>
              </a:ext>
            </a:extLst>
          </p:cNvPr>
          <p:cNvSpPr txBox="1"/>
          <p:nvPr/>
        </p:nvSpPr>
        <p:spPr>
          <a:xfrm>
            <a:off x="598279" y="2607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Agile Model</a:t>
            </a:r>
          </a:p>
        </p:txBody>
      </p:sp>
    </p:spTree>
    <p:extLst>
      <p:ext uri="{BB962C8B-B14F-4D97-AF65-F5344CB8AC3E}">
        <p14:creationId xmlns:p14="http://schemas.microsoft.com/office/powerpoint/2010/main" val="235959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5F747-BF9E-FFCA-A745-E40B7111B7C9}"/>
              </a:ext>
            </a:extLst>
          </p:cNvPr>
          <p:cNvSpPr txBox="1"/>
          <p:nvPr/>
        </p:nvSpPr>
        <p:spPr>
          <a:xfrm>
            <a:off x="489857" y="21810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V-Model (Verification and Validation Model)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2FF2E5-43F2-87A2-502D-CA236AA06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5" r="1573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5EF3BD-0267-4CCD-976E-772A3F1B1093}"/>
              </a:ext>
            </a:extLst>
          </p:cNvPr>
          <p:cNvSpPr txBox="1"/>
          <p:nvPr/>
        </p:nvSpPr>
        <p:spPr>
          <a:xfrm>
            <a:off x="489857" y="172636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V-Model</a:t>
            </a:r>
            <a:r>
              <a:rPr lang="en-US" dirty="0"/>
              <a:t> is an extension of the Waterfall Model where testing is planned in parallel with development. For every development phase, there is a corresponding testing phase.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06D4F-71F4-7A87-BC02-2E9E599D0DE9}"/>
              </a:ext>
            </a:extLst>
          </p:cNvPr>
          <p:cNvSpPr txBox="1"/>
          <p:nvPr/>
        </p:nvSpPr>
        <p:spPr>
          <a:xfrm>
            <a:off x="489857" y="290718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Phases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Verification (Left Side)</a:t>
            </a:r>
          </a:p>
          <a:p>
            <a:pPr>
              <a:buFont typeface="+mj-lt"/>
              <a:buAutoNum type="arabicPeriod"/>
            </a:pPr>
            <a:r>
              <a:rPr lang="en-US" dirty="0"/>
              <a:t>Requirement Analysis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Design</a:t>
            </a:r>
          </a:p>
          <a:p>
            <a:pPr>
              <a:buFont typeface="+mj-lt"/>
              <a:buAutoNum type="arabicPeriod"/>
            </a:pPr>
            <a:r>
              <a:rPr lang="en-US" dirty="0"/>
              <a:t>Architecture Design</a:t>
            </a:r>
          </a:p>
          <a:p>
            <a:pPr>
              <a:buFont typeface="+mj-lt"/>
              <a:buAutoNum type="arabicPeriod"/>
            </a:pPr>
            <a:r>
              <a:rPr lang="en-US" dirty="0"/>
              <a:t>Module Design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None/>
            </a:pPr>
            <a:r>
              <a:rPr lang="en-US" b="1" dirty="0"/>
              <a:t>Validation (Right Side)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Acceptance Testing (UAT)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Testing</a:t>
            </a:r>
          </a:p>
          <a:p>
            <a:pPr>
              <a:buFont typeface="+mj-lt"/>
              <a:buAutoNum type="arabicPeriod"/>
            </a:pPr>
            <a:r>
              <a:rPr lang="en-US" dirty="0"/>
              <a:t>Integration Testing</a:t>
            </a:r>
          </a:p>
          <a:p>
            <a:pPr>
              <a:buFont typeface="+mj-lt"/>
              <a:buAutoNum type="arabicPeriod"/>
            </a:pPr>
            <a:r>
              <a:rPr lang="en-US" dirty="0"/>
              <a:t>Unit Testing</a:t>
            </a:r>
          </a:p>
        </p:txBody>
      </p:sp>
    </p:spTree>
    <p:extLst>
      <p:ext uri="{BB962C8B-B14F-4D97-AF65-F5344CB8AC3E}">
        <p14:creationId xmlns:p14="http://schemas.microsoft.com/office/powerpoint/2010/main" val="3668987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200F39-5195-3706-6ED6-9AE84AEB716C}"/>
              </a:ext>
            </a:extLst>
          </p:cNvPr>
          <p:cNvSpPr txBox="1"/>
          <p:nvPr/>
        </p:nvSpPr>
        <p:spPr>
          <a:xfrm>
            <a:off x="592156" y="1618621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Defects found early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mapping between development and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quality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2D7CCC-7BC5-BFEE-CFB2-B5BB5C12C224}"/>
              </a:ext>
            </a:extLst>
          </p:cNvPr>
          <p:cNvSpPr txBox="1"/>
          <p:nvPr/>
        </p:nvSpPr>
        <p:spPr>
          <a:xfrm>
            <a:off x="592156" y="2967335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Rigid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suitable for changing requirements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294B3-C58F-D2CE-5C9C-989AF22E33E4}"/>
              </a:ext>
            </a:extLst>
          </p:cNvPr>
          <p:cNvSpPr txBox="1"/>
          <p:nvPr/>
        </p:nvSpPr>
        <p:spPr>
          <a:xfrm>
            <a:off x="592156" y="4039050"/>
            <a:ext cx="60978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Developing a </a:t>
            </a:r>
            <a:r>
              <a:rPr lang="en-US" b="1" dirty="0"/>
              <a:t>banking login module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Requirements + UAT test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design + system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Module design + unit tests</a:t>
            </a:r>
          </a:p>
          <a:p>
            <a:pPr>
              <a:buNone/>
            </a:pPr>
            <a:r>
              <a:rPr lang="en-US" dirty="0"/>
              <a:t>Everything is tested at each level.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003B0-1748-8631-B853-9005EBE6BA75}"/>
              </a:ext>
            </a:extLst>
          </p:cNvPr>
          <p:cNvSpPr txBox="1"/>
          <p:nvPr/>
        </p:nvSpPr>
        <p:spPr>
          <a:xfrm>
            <a:off x="592156" y="269907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V-Model (Verification and Validation Model)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479000-ECAA-EA7A-E1F4-A17C96F6B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773" y="0"/>
            <a:ext cx="6407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96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1E96BD-5826-6863-FD15-0641717C55A9}"/>
              </a:ext>
            </a:extLst>
          </p:cNvPr>
          <p:cNvSpPr txBox="1"/>
          <p:nvPr/>
        </p:nvSpPr>
        <p:spPr>
          <a:xfrm>
            <a:off x="515038" y="272534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Spiral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9B282-07F5-AA33-EBDA-841440C16EEE}"/>
              </a:ext>
            </a:extLst>
          </p:cNvPr>
          <p:cNvSpPr txBox="1"/>
          <p:nvPr/>
        </p:nvSpPr>
        <p:spPr>
          <a:xfrm>
            <a:off x="515038" y="1147175"/>
            <a:ext cx="50264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Spiral Model</a:t>
            </a:r>
            <a:r>
              <a:rPr lang="en-US" dirty="0"/>
              <a:t> combines the iterative nature of Agile with risk analysis. It focuses heavily on identifying and minimizing risks in each phase.</a:t>
            </a:r>
          </a:p>
          <a:p>
            <a:pPr>
              <a:buNone/>
            </a:pPr>
            <a:r>
              <a:rPr lang="en-US" dirty="0"/>
              <a:t>It follows a spiral path with four main quadrants:</a:t>
            </a:r>
          </a:p>
          <a:p>
            <a:pPr>
              <a:buFont typeface="+mj-lt"/>
              <a:buAutoNum type="arabicPeriod"/>
            </a:pPr>
            <a:r>
              <a:rPr lang="en-US" dirty="0"/>
              <a:t>Planning</a:t>
            </a:r>
          </a:p>
          <a:p>
            <a:pPr>
              <a:buFont typeface="+mj-lt"/>
              <a:buAutoNum type="arabicPeriod"/>
            </a:pPr>
            <a:r>
              <a:rPr lang="en-US" dirty="0"/>
              <a:t>Risk Analysis</a:t>
            </a:r>
          </a:p>
          <a:p>
            <a:pPr>
              <a:buFont typeface="+mj-lt"/>
              <a:buAutoNum type="arabicPeriod"/>
            </a:pPr>
            <a:r>
              <a:rPr lang="en-US" dirty="0"/>
              <a:t>Development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Evaluation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5F91B7-AA10-982F-967E-774CCDC4C5F6}"/>
              </a:ext>
            </a:extLst>
          </p:cNvPr>
          <p:cNvSpPr txBox="1"/>
          <p:nvPr/>
        </p:nvSpPr>
        <p:spPr>
          <a:xfrm>
            <a:off x="515038" y="3873520"/>
            <a:ext cx="62520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Features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Best for high‑risk, complex 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identifying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Development happens in iterations (spirals)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058868-1D6F-E0F2-F22F-2D2A8F954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8" t="11888" r="15921"/>
          <a:stretch>
            <a:fillRect/>
          </a:stretch>
        </p:blipFill>
        <p:spPr>
          <a:xfrm>
            <a:off x="5343181" y="0"/>
            <a:ext cx="6848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02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EEFF785-2674-DC19-C523-0E39FFF87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573" y="0"/>
            <a:ext cx="679373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DB9666-B009-4BFF-F58D-74F64BC6DF39}"/>
              </a:ext>
            </a:extLst>
          </p:cNvPr>
          <p:cNvSpPr txBox="1"/>
          <p:nvPr/>
        </p:nvSpPr>
        <p:spPr>
          <a:xfrm>
            <a:off x="570122" y="305584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Spiral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77BFF-FDFA-6C87-EBA7-D0D88B3FC5D2}"/>
              </a:ext>
            </a:extLst>
          </p:cNvPr>
          <p:cNvSpPr txBox="1"/>
          <p:nvPr/>
        </p:nvSpPr>
        <p:spPr>
          <a:xfrm>
            <a:off x="570122" y="1347166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good risk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large, expensive 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Flexible to requirement changes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34787-9004-1BB2-889E-4527EBF399A7}"/>
              </a:ext>
            </a:extLst>
          </p:cNvPr>
          <p:cNvSpPr txBox="1"/>
          <p:nvPr/>
        </p:nvSpPr>
        <p:spPr>
          <a:xfrm>
            <a:off x="570122" y="3119016"/>
            <a:ext cx="609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Costly and complex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suitable for small projects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A3545C-CC8F-0EDE-CE91-5D0C55315553}"/>
              </a:ext>
            </a:extLst>
          </p:cNvPr>
          <p:cNvSpPr txBox="1"/>
          <p:nvPr/>
        </p:nvSpPr>
        <p:spPr>
          <a:xfrm>
            <a:off x="570122" y="4910669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dirty="0"/>
              <a:t>Developing </a:t>
            </a:r>
            <a:r>
              <a:rPr lang="en-US" b="1" dirty="0"/>
              <a:t>aircraft control software</a:t>
            </a:r>
            <a:r>
              <a:rPr lang="en-US" dirty="0"/>
              <a:t> or </a:t>
            </a:r>
            <a:r>
              <a:rPr lang="en-US" b="1" dirty="0"/>
              <a:t>medical system software</a:t>
            </a:r>
            <a:r>
              <a:rPr lang="en-US" dirty="0"/>
              <a:t>, where repeated risk analysis and prototyping are necessary.</a:t>
            </a:r>
          </a:p>
        </p:txBody>
      </p:sp>
    </p:spTree>
    <p:extLst>
      <p:ext uri="{BB962C8B-B14F-4D97-AF65-F5344CB8AC3E}">
        <p14:creationId xmlns:p14="http://schemas.microsoft.com/office/powerpoint/2010/main" val="4238084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559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</cp:revision>
  <dcterms:created xsi:type="dcterms:W3CDTF">2025-12-12T05:54:35Z</dcterms:created>
  <dcterms:modified xsi:type="dcterms:W3CDTF">2025-12-12T11:39:58Z</dcterms:modified>
</cp:coreProperties>
</file>