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2" d="100"/>
          <a:sy n="62" d="100"/>
        </p:scale>
        <p:origin x="828" y="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F8FFD3-C78B-436A-902C-2CBF2D50C947}"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4094757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F8FFD3-C78B-436A-902C-2CBF2D50C947}"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78519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F8FFD3-C78B-436A-902C-2CBF2D50C947}"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2017465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F8FFD3-C78B-436A-902C-2CBF2D50C947}"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362499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F8FFD3-C78B-436A-902C-2CBF2D50C947}"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729735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F8FFD3-C78B-436A-902C-2CBF2D50C947}"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3470663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F8FFD3-C78B-436A-902C-2CBF2D50C947}"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2366548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F8FFD3-C78B-436A-902C-2CBF2D50C947}"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2121323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F8FFD3-C78B-436A-902C-2CBF2D50C947}"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169075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F8FFD3-C78B-436A-902C-2CBF2D50C947}"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10447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F8FFD3-C78B-436A-902C-2CBF2D50C947}"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94B1F6-A462-430D-844C-DA8699B4F6A9}" type="slidenum">
              <a:rPr lang="en-US" smtClean="0"/>
              <a:t>‹#›</a:t>
            </a:fld>
            <a:endParaRPr lang="en-US"/>
          </a:p>
        </p:txBody>
      </p:sp>
    </p:spTree>
    <p:extLst>
      <p:ext uri="{BB962C8B-B14F-4D97-AF65-F5344CB8AC3E}">
        <p14:creationId xmlns:p14="http://schemas.microsoft.com/office/powerpoint/2010/main" val="2026902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F8FFD3-C78B-436A-902C-2CBF2D50C947}" type="datetimeFigureOut">
              <a:rPr lang="en-US" smtClean="0"/>
              <a:t>12/15/2025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94B1F6-A462-430D-844C-DA8699B4F6A9}" type="slidenum">
              <a:rPr lang="en-US" smtClean="0"/>
              <a:t>‹#›</a:t>
            </a:fld>
            <a:endParaRPr lang="en-US"/>
          </a:p>
        </p:txBody>
      </p:sp>
    </p:spTree>
    <p:extLst>
      <p:ext uri="{BB962C8B-B14F-4D97-AF65-F5344CB8AC3E}">
        <p14:creationId xmlns:p14="http://schemas.microsoft.com/office/powerpoint/2010/main" val="238692359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BA20C1-6CA9-5AB9-9EC9-ED438B818C26}"/>
              </a:ext>
            </a:extLst>
          </p:cNvPr>
          <p:cNvSpPr txBox="1"/>
          <p:nvPr/>
        </p:nvSpPr>
        <p:spPr>
          <a:xfrm>
            <a:off x="532638" y="354830"/>
            <a:ext cx="6094476" cy="646331"/>
          </a:xfrm>
          <a:prstGeom prst="rect">
            <a:avLst/>
          </a:prstGeom>
          <a:noFill/>
        </p:spPr>
        <p:txBody>
          <a:bodyPr wrap="square">
            <a:spAutoFit/>
          </a:bodyPr>
          <a:lstStyle/>
          <a:p>
            <a:r>
              <a:rPr lang="en-US" sz="3600" b="1" dirty="0"/>
              <a:t>Meetings in Agile</a:t>
            </a:r>
          </a:p>
        </p:txBody>
      </p:sp>
      <p:sp>
        <p:nvSpPr>
          <p:cNvPr id="7" name="TextBox 6">
            <a:extLst>
              <a:ext uri="{FF2B5EF4-FFF2-40B4-BE49-F238E27FC236}">
                <a16:creationId xmlns:a16="http://schemas.microsoft.com/office/drawing/2014/main" id="{31C71488-61E0-68B6-3FB2-3D46DE5A978D}"/>
              </a:ext>
            </a:extLst>
          </p:cNvPr>
          <p:cNvSpPr txBox="1"/>
          <p:nvPr/>
        </p:nvSpPr>
        <p:spPr>
          <a:xfrm>
            <a:off x="532638" y="1187809"/>
            <a:ext cx="10943082" cy="5262979"/>
          </a:xfrm>
          <a:prstGeom prst="rect">
            <a:avLst/>
          </a:prstGeom>
          <a:noFill/>
        </p:spPr>
        <p:txBody>
          <a:bodyPr wrap="square">
            <a:spAutoFit/>
          </a:bodyPr>
          <a:lstStyle/>
          <a:p>
            <a:pPr>
              <a:buNone/>
            </a:pPr>
            <a:r>
              <a:rPr lang="en-US" sz="2400" dirty="0"/>
              <a:t>Agile methodology emphasizes collaboration, transparency, and continuous improvement. Meetings in Agile are structured events designed to ensure that teams stay aligned, identify challenges early, and continuously improve their processes and outcomes. Unlike traditional long and infrequent meetings, Agile meetings are time‑boxed, focused, and purpose‑driven. They help teams communicate effectively, adapt to change, and deliver value incrementally.</a:t>
            </a:r>
          </a:p>
          <a:p>
            <a:pPr>
              <a:buNone/>
            </a:pPr>
            <a:r>
              <a:rPr lang="en-US" sz="2400" dirty="0"/>
              <a:t>This document explains three important Agile meetings:</a:t>
            </a:r>
          </a:p>
          <a:p>
            <a:pPr>
              <a:buNone/>
            </a:pPr>
            <a:endParaRPr lang="en-US" sz="2400" dirty="0"/>
          </a:p>
          <a:p>
            <a:pPr>
              <a:buFont typeface="+mj-lt"/>
              <a:buAutoNum type="arabicPeriod"/>
            </a:pPr>
            <a:r>
              <a:rPr lang="en-US" sz="2400" dirty="0"/>
              <a:t>Daily Standup Meeting</a:t>
            </a:r>
          </a:p>
          <a:p>
            <a:pPr>
              <a:buFont typeface="+mj-lt"/>
              <a:buAutoNum type="arabicPeriod"/>
            </a:pPr>
            <a:r>
              <a:rPr lang="en-US" sz="2400" dirty="0"/>
              <a:t>Sprint Planning Meeting</a:t>
            </a:r>
          </a:p>
          <a:p>
            <a:pPr>
              <a:buFont typeface="+mj-lt"/>
              <a:buAutoNum type="arabicPeriod"/>
            </a:pPr>
            <a:r>
              <a:rPr lang="en-US" sz="2400" dirty="0"/>
              <a:t>Retrospective Meeting</a:t>
            </a:r>
          </a:p>
          <a:p>
            <a:pPr>
              <a:buFont typeface="+mj-lt"/>
              <a:buAutoNum type="arabicPeriod"/>
            </a:pPr>
            <a:endParaRPr lang="en-US" sz="2400" dirty="0"/>
          </a:p>
          <a:p>
            <a:pPr>
              <a:buNone/>
            </a:pPr>
            <a:r>
              <a:rPr lang="en-US" sz="2400" dirty="0"/>
              <a:t>Each meeting plays a unique role in the Agile lifecycle and contributes to the overall success of the project.</a:t>
            </a:r>
          </a:p>
        </p:txBody>
      </p:sp>
    </p:spTree>
    <p:extLst>
      <p:ext uri="{BB962C8B-B14F-4D97-AF65-F5344CB8AC3E}">
        <p14:creationId xmlns:p14="http://schemas.microsoft.com/office/powerpoint/2010/main" val="67168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33FED0-A0F1-C35F-6E43-735832C30AA1}"/>
              </a:ext>
            </a:extLst>
          </p:cNvPr>
          <p:cNvSpPr txBox="1"/>
          <p:nvPr/>
        </p:nvSpPr>
        <p:spPr>
          <a:xfrm>
            <a:off x="175491" y="226352"/>
            <a:ext cx="6096000" cy="584775"/>
          </a:xfrm>
          <a:prstGeom prst="rect">
            <a:avLst/>
          </a:prstGeom>
          <a:noFill/>
        </p:spPr>
        <p:txBody>
          <a:bodyPr wrap="square">
            <a:spAutoFit/>
          </a:bodyPr>
          <a:lstStyle/>
          <a:p>
            <a:pPr>
              <a:buNone/>
            </a:pPr>
            <a:r>
              <a:rPr lang="en-US" sz="3200" b="1" dirty="0"/>
              <a:t>Daily Standup Meeting</a:t>
            </a:r>
          </a:p>
        </p:txBody>
      </p:sp>
      <p:pic>
        <p:nvPicPr>
          <p:cNvPr id="9" name="Picture 8">
            <a:extLst>
              <a:ext uri="{FF2B5EF4-FFF2-40B4-BE49-F238E27FC236}">
                <a16:creationId xmlns:a16="http://schemas.microsoft.com/office/drawing/2014/main" id="{3E31DA9B-CE42-D245-3876-93958CE667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3145" y="0"/>
            <a:ext cx="5728855" cy="6858000"/>
          </a:xfrm>
          <a:prstGeom prst="rect">
            <a:avLst/>
          </a:prstGeom>
        </p:spPr>
      </p:pic>
      <p:sp>
        <p:nvSpPr>
          <p:cNvPr id="11" name="TextBox 10">
            <a:extLst>
              <a:ext uri="{FF2B5EF4-FFF2-40B4-BE49-F238E27FC236}">
                <a16:creationId xmlns:a16="http://schemas.microsoft.com/office/drawing/2014/main" id="{711A8817-F9C6-8004-A3A0-418085B08AD6}"/>
              </a:ext>
            </a:extLst>
          </p:cNvPr>
          <p:cNvSpPr txBox="1"/>
          <p:nvPr/>
        </p:nvSpPr>
        <p:spPr>
          <a:xfrm>
            <a:off x="173779" y="930271"/>
            <a:ext cx="6097712" cy="1477328"/>
          </a:xfrm>
          <a:prstGeom prst="rect">
            <a:avLst/>
          </a:prstGeom>
          <a:noFill/>
        </p:spPr>
        <p:txBody>
          <a:bodyPr wrap="square">
            <a:spAutoFit/>
          </a:bodyPr>
          <a:lstStyle/>
          <a:p>
            <a:r>
              <a:rPr lang="en-US" dirty="0"/>
              <a:t>The Daily Standup Meeting, also known as the Daily Scrum, is a short, time‑boxed meeting held every working day. It is usually conducted at the same time and place to create consistency and discipline within the team. The meeting typically lasts 10–15 minutes and involves all development team members.</a:t>
            </a:r>
          </a:p>
        </p:txBody>
      </p:sp>
      <p:sp>
        <p:nvSpPr>
          <p:cNvPr id="13" name="TextBox 12">
            <a:extLst>
              <a:ext uri="{FF2B5EF4-FFF2-40B4-BE49-F238E27FC236}">
                <a16:creationId xmlns:a16="http://schemas.microsoft.com/office/drawing/2014/main" id="{01D1E0AD-D4BC-E6FA-3931-C210FF8FBEB4}"/>
              </a:ext>
            </a:extLst>
          </p:cNvPr>
          <p:cNvSpPr txBox="1"/>
          <p:nvPr/>
        </p:nvSpPr>
        <p:spPr>
          <a:xfrm>
            <a:off x="173779" y="2551837"/>
            <a:ext cx="6097712" cy="1754326"/>
          </a:xfrm>
          <a:prstGeom prst="rect">
            <a:avLst/>
          </a:prstGeom>
          <a:noFill/>
        </p:spPr>
        <p:txBody>
          <a:bodyPr wrap="square">
            <a:spAutoFit/>
          </a:bodyPr>
          <a:lstStyle/>
          <a:p>
            <a:pPr>
              <a:buNone/>
            </a:pPr>
            <a:r>
              <a:rPr lang="en-US" b="1" dirty="0"/>
              <a:t>Purpose of Daily Standup</a:t>
            </a:r>
          </a:p>
          <a:p>
            <a:pPr>
              <a:buNone/>
            </a:pPr>
            <a:r>
              <a:rPr lang="en-US" dirty="0"/>
              <a:t>The Daily Standup helps the team:</a:t>
            </a:r>
          </a:p>
          <a:p>
            <a:r>
              <a:rPr lang="en-US" dirty="0"/>
              <a:t>- Understand the current progress of the sprint</a:t>
            </a:r>
          </a:p>
          <a:p>
            <a:r>
              <a:rPr lang="en-US" dirty="0"/>
              <a:t>- Identify blockers or issues early</a:t>
            </a:r>
          </a:p>
          <a:p>
            <a:r>
              <a:rPr lang="en-US" dirty="0"/>
              <a:t>- Improve communication and collaboration</a:t>
            </a:r>
          </a:p>
          <a:p>
            <a:r>
              <a:rPr lang="en-US" dirty="0"/>
              <a:t>- Stay focused on sprint goals</a:t>
            </a:r>
          </a:p>
        </p:txBody>
      </p:sp>
      <p:sp>
        <p:nvSpPr>
          <p:cNvPr id="15" name="TextBox 14">
            <a:extLst>
              <a:ext uri="{FF2B5EF4-FFF2-40B4-BE49-F238E27FC236}">
                <a16:creationId xmlns:a16="http://schemas.microsoft.com/office/drawing/2014/main" id="{7FC31CCA-B21D-CC0D-7E8D-64A8F6358696}"/>
              </a:ext>
            </a:extLst>
          </p:cNvPr>
          <p:cNvSpPr txBox="1"/>
          <p:nvPr/>
        </p:nvSpPr>
        <p:spPr>
          <a:xfrm>
            <a:off x="173779" y="4529695"/>
            <a:ext cx="6097712" cy="2031325"/>
          </a:xfrm>
          <a:prstGeom prst="rect">
            <a:avLst/>
          </a:prstGeom>
          <a:noFill/>
        </p:spPr>
        <p:txBody>
          <a:bodyPr wrap="square">
            <a:spAutoFit/>
          </a:bodyPr>
          <a:lstStyle/>
          <a:p>
            <a:pPr>
              <a:buNone/>
            </a:pPr>
            <a:r>
              <a:rPr lang="en-US" b="1" dirty="0"/>
              <a:t>Structure of the Meeting</a:t>
            </a:r>
          </a:p>
          <a:p>
            <a:pPr>
              <a:buNone/>
            </a:pPr>
            <a:r>
              <a:rPr lang="en-US" dirty="0"/>
              <a:t>Traditionally, each team member answers three key questions:</a:t>
            </a:r>
          </a:p>
          <a:p>
            <a:pPr>
              <a:buFont typeface="+mj-lt"/>
              <a:buAutoNum type="arabicPeriod"/>
            </a:pPr>
            <a:r>
              <a:rPr lang="en-US" dirty="0"/>
              <a:t>What did I work on yesterday?</a:t>
            </a:r>
          </a:p>
          <a:p>
            <a:pPr>
              <a:buFont typeface="+mj-lt"/>
              <a:buAutoNum type="arabicPeriod"/>
            </a:pPr>
            <a:r>
              <a:rPr lang="en-US" dirty="0"/>
              <a:t>What will I work on today?</a:t>
            </a:r>
          </a:p>
          <a:p>
            <a:pPr>
              <a:buFont typeface="+mj-lt"/>
              <a:buAutoNum type="arabicPeriod"/>
            </a:pPr>
            <a:r>
              <a:rPr lang="en-US" dirty="0"/>
              <a:t>Are there any blockers or challenges?</a:t>
            </a:r>
          </a:p>
          <a:p>
            <a:pPr>
              <a:buNone/>
            </a:pPr>
            <a:r>
              <a:rPr lang="en-US" dirty="0"/>
              <a:t>These questions help the team track progress and quickly identify problems that need attention after the meeting.</a:t>
            </a:r>
          </a:p>
        </p:txBody>
      </p:sp>
    </p:spTree>
    <p:extLst>
      <p:ext uri="{BB962C8B-B14F-4D97-AF65-F5344CB8AC3E}">
        <p14:creationId xmlns:p14="http://schemas.microsoft.com/office/powerpoint/2010/main" val="339559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61A3FE-2394-56AB-7C95-22ACE031FFA2}"/>
              </a:ext>
            </a:extLst>
          </p:cNvPr>
          <p:cNvSpPr txBox="1"/>
          <p:nvPr/>
        </p:nvSpPr>
        <p:spPr>
          <a:xfrm>
            <a:off x="264560" y="205751"/>
            <a:ext cx="6097712" cy="584775"/>
          </a:xfrm>
          <a:prstGeom prst="rect">
            <a:avLst/>
          </a:prstGeom>
          <a:noFill/>
        </p:spPr>
        <p:txBody>
          <a:bodyPr wrap="square">
            <a:spAutoFit/>
          </a:bodyPr>
          <a:lstStyle/>
          <a:p>
            <a:pPr>
              <a:buNone/>
            </a:pPr>
            <a:r>
              <a:rPr lang="en-US" sz="3200" b="1" dirty="0"/>
              <a:t>Sprint Planning Meeting</a:t>
            </a:r>
          </a:p>
        </p:txBody>
      </p:sp>
      <p:pic>
        <p:nvPicPr>
          <p:cNvPr id="7" name="Picture 6">
            <a:extLst>
              <a:ext uri="{FF2B5EF4-FFF2-40B4-BE49-F238E27FC236}">
                <a16:creationId xmlns:a16="http://schemas.microsoft.com/office/drawing/2014/main" id="{3FC8EC3C-DA28-B014-A741-F413AEF27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9260" y="0"/>
            <a:ext cx="5692740" cy="6858000"/>
          </a:xfrm>
          <a:prstGeom prst="rect">
            <a:avLst/>
          </a:prstGeom>
        </p:spPr>
      </p:pic>
      <p:sp>
        <p:nvSpPr>
          <p:cNvPr id="9" name="TextBox 8">
            <a:extLst>
              <a:ext uri="{FF2B5EF4-FFF2-40B4-BE49-F238E27FC236}">
                <a16:creationId xmlns:a16="http://schemas.microsoft.com/office/drawing/2014/main" id="{532E92ED-885C-079A-359F-F999D3AE46CF}"/>
              </a:ext>
            </a:extLst>
          </p:cNvPr>
          <p:cNvSpPr txBox="1"/>
          <p:nvPr/>
        </p:nvSpPr>
        <p:spPr>
          <a:xfrm>
            <a:off x="264560" y="1090334"/>
            <a:ext cx="6097712" cy="1477328"/>
          </a:xfrm>
          <a:prstGeom prst="rect">
            <a:avLst/>
          </a:prstGeom>
          <a:noFill/>
        </p:spPr>
        <p:txBody>
          <a:bodyPr wrap="square">
            <a:spAutoFit/>
          </a:bodyPr>
          <a:lstStyle/>
          <a:p>
            <a:r>
              <a:rPr lang="en-US" dirty="0"/>
              <a:t>The Sprint Planning Meeting marks the beginning of a sprint. It is a collaborative session where the team decides what work will be completed during the upcoming sprint. This meeting ensures that everyone has a shared understanding of the sprint goals and deliverables.</a:t>
            </a:r>
          </a:p>
        </p:txBody>
      </p:sp>
      <p:sp>
        <p:nvSpPr>
          <p:cNvPr id="11" name="TextBox 10">
            <a:extLst>
              <a:ext uri="{FF2B5EF4-FFF2-40B4-BE49-F238E27FC236}">
                <a16:creationId xmlns:a16="http://schemas.microsoft.com/office/drawing/2014/main" id="{19101CCC-D06F-68BA-94EF-92DB9C81AAD9}"/>
              </a:ext>
            </a:extLst>
          </p:cNvPr>
          <p:cNvSpPr txBox="1"/>
          <p:nvPr/>
        </p:nvSpPr>
        <p:spPr>
          <a:xfrm>
            <a:off x="264560" y="2867470"/>
            <a:ext cx="6097712" cy="2031325"/>
          </a:xfrm>
          <a:prstGeom prst="rect">
            <a:avLst/>
          </a:prstGeom>
          <a:noFill/>
        </p:spPr>
        <p:txBody>
          <a:bodyPr wrap="square">
            <a:spAutoFit/>
          </a:bodyPr>
          <a:lstStyle/>
          <a:p>
            <a:pPr>
              <a:buNone/>
            </a:pPr>
            <a:r>
              <a:rPr lang="en-US" b="1" dirty="0"/>
              <a:t>Objectives of Sprint Planning</a:t>
            </a:r>
          </a:p>
          <a:p>
            <a:pPr>
              <a:buNone/>
            </a:pPr>
            <a:r>
              <a:rPr lang="en-US" dirty="0"/>
              <a:t>The Sprint Planning Meeting aims to:</a:t>
            </a:r>
          </a:p>
          <a:p>
            <a:r>
              <a:rPr lang="en-US" dirty="0"/>
              <a:t>- Define the sprint goal</a:t>
            </a:r>
          </a:p>
          <a:p>
            <a:r>
              <a:rPr lang="en-US" dirty="0"/>
              <a:t>- Select backlog items to be completed</a:t>
            </a:r>
          </a:p>
          <a:p>
            <a:r>
              <a:rPr lang="en-US" dirty="0"/>
              <a:t>- Plan how the selected work will be done</a:t>
            </a:r>
          </a:p>
          <a:p>
            <a:r>
              <a:rPr lang="en-US" dirty="0"/>
              <a:t>- Ensure alignment between business priorities and team capacity</a:t>
            </a:r>
          </a:p>
        </p:txBody>
      </p:sp>
      <p:sp>
        <p:nvSpPr>
          <p:cNvPr id="13" name="TextBox 12">
            <a:extLst>
              <a:ext uri="{FF2B5EF4-FFF2-40B4-BE49-F238E27FC236}">
                <a16:creationId xmlns:a16="http://schemas.microsoft.com/office/drawing/2014/main" id="{D8D35D81-1243-4FBC-E9D2-F25FC3DCF9D1}"/>
              </a:ext>
            </a:extLst>
          </p:cNvPr>
          <p:cNvSpPr txBox="1"/>
          <p:nvPr/>
        </p:nvSpPr>
        <p:spPr>
          <a:xfrm>
            <a:off x="264560" y="5169514"/>
            <a:ext cx="6097712" cy="923330"/>
          </a:xfrm>
          <a:prstGeom prst="rect">
            <a:avLst/>
          </a:prstGeom>
          <a:noFill/>
        </p:spPr>
        <p:txBody>
          <a:bodyPr wrap="square">
            <a:spAutoFit/>
          </a:bodyPr>
          <a:lstStyle/>
          <a:p>
            <a:pPr>
              <a:buNone/>
            </a:pPr>
            <a:r>
              <a:rPr lang="en-US" b="1" dirty="0"/>
              <a:t>Key Activities</a:t>
            </a:r>
          </a:p>
          <a:p>
            <a:pPr>
              <a:buNone/>
            </a:pPr>
            <a:r>
              <a:rPr lang="en-US" dirty="0"/>
              <a:t>Sprint Planning is generally divided into two main parts:</a:t>
            </a:r>
          </a:p>
          <a:p>
            <a:pPr>
              <a:buNone/>
            </a:pPr>
            <a:r>
              <a:rPr lang="en-US" b="1" dirty="0"/>
              <a:t>1. What will be done</a:t>
            </a:r>
          </a:p>
        </p:txBody>
      </p:sp>
      <p:sp>
        <p:nvSpPr>
          <p:cNvPr id="15" name="TextBox 14">
            <a:extLst>
              <a:ext uri="{FF2B5EF4-FFF2-40B4-BE49-F238E27FC236}">
                <a16:creationId xmlns:a16="http://schemas.microsoft.com/office/drawing/2014/main" id="{C5ADEBC3-ED8C-AC9F-EBD1-32E5E22C8EB5}"/>
              </a:ext>
            </a:extLst>
          </p:cNvPr>
          <p:cNvSpPr txBox="1"/>
          <p:nvPr/>
        </p:nvSpPr>
        <p:spPr>
          <a:xfrm>
            <a:off x="264560" y="6092844"/>
            <a:ext cx="6097712" cy="369332"/>
          </a:xfrm>
          <a:prstGeom prst="rect">
            <a:avLst/>
          </a:prstGeom>
          <a:noFill/>
        </p:spPr>
        <p:txBody>
          <a:bodyPr wrap="square">
            <a:spAutoFit/>
          </a:bodyPr>
          <a:lstStyle/>
          <a:p>
            <a:r>
              <a:rPr lang="en-US" b="1" dirty="0"/>
              <a:t>2. How will it be done?</a:t>
            </a:r>
          </a:p>
        </p:txBody>
      </p:sp>
    </p:spTree>
    <p:extLst>
      <p:ext uri="{BB962C8B-B14F-4D97-AF65-F5344CB8AC3E}">
        <p14:creationId xmlns:p14="http://schemas.microsoft.com/office/powerpoint/2010/main" val="3925313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96E681-1587-772C-CCF0-A364204F7BC5}"/>
              </a:ext>
            </a:extLst>
          </p:cNvPr>
          <p:cNvSpPr txBox="1"/>
          <p:nvPr/>
        </p:nvSpPr>
        <p:spPr>
          <a:xfrm>
            <a:off x="213188" y="205752"/>
            <a:ext cx="6097712" cy="584775"/>
          </a:xfrm>
          <a:prstGeom prst="rect">
            <a:avLst/>
          </a:prstGeom>
          <a:noFill/>
        </p:spPr>
        <p:txBody>
          <a:bodyPr wrap="square">
            <a:spAutoFit/>
          </a:bodyPr>
          <a:lstStyle/>
          <a:p>
            <a:pPr>
              <a:buNone/>
            </a:pPr>
            <a:r>
              <a:rPr lang="en-US" sz="3200" b="1" dirty="0"/>
              <a:t>Retrospective Meeting</a:t>
            </a:r>
          </a:p>
        </p:txBody>
      </p:sp>
      <p:pic>
        <p:nvPicPr>
          <p:cNvPr id="7" name="Picture 6">
            <a:extLst>
              <a:ext uri="{FF2B5EF4-FFF2-40B4-BE49-F238E27FC236}">
                <a16:creationId xmlns:a16="http://schemas.microsoft.com/office/drawing/2014/main" id="{9661A729-6EBD-B47D-3CFD-90182477FB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3099" y="0"/>
            <a:ext cx="5548901" cy="6858000"/>
          </a:xfrm>
          <a:prstGeom prst="rect">
            <a:avLst/>
          </a:prstGeom>
        </p:spPr>
      </p:pic>
      <p:sp>
        <p:nvSpPr>
          <p:cNvPr id="9" name="TextBox 8">
            <a:extLst>
              <a:ext uri="{FF2B5EF4-FFF2-40B4-BE49-F238E27FC236}">
                <a16:creationId xmlns:a16="http://schemas.microsoft.com/office/drawing/2014/main" id="{C3CBA9DF-11F2-6DEF-310A-9F650457A86E}"/>
              </a:ext>
            </a:extLst>
          </p:cNvPr>
          <p:cNvSpPr txBox="1"/>
          <p:nvPr/>
        </p:nvSpPr>
        <p:spPr>
          <a:xfrm>
            <a:off x="213188" y="874378"/>
            <a:ext cx="6097712" cy="1477328"/>
          </a:xfrm>
          <a:prstGeom prst="rect">
            <a:avLst/>
          </a:prstGeom>
          <a:noFill/>
        </p:spPr>
        <p:txBody>
          <a:bodyPr wrap="square">
            <a:spAutoFit/>
          </a:bodyPr>
          <a:lstStyle/>
          <a:p>
            <a:r>
              <a:rPr lang="en-US" dirty="0"/>
              <a:t>The Retrospective Meeting is held at the end of each sprint. It provides the team with an opportunity to reflect on the sprint and identify areas for improvement. The focus is on processes, collaboration, and performance rather than blaming individuals.</a:t>
            </a:r>
          </a:p>
        </p:txBody>
      </p:sp>
      <p:sp>
        <p:nvSpPr>
          <p:cNvPr id="11" name="TextBox 10">
            <a:extLst>
              <a:ext uri="{FF2B5EF4-FFF2-40B4-BE49-F238E27FC236}">
                <a16:creationId xmlns:a16="http://schemas.microsoft.com/office/drawing/2014/main" id="{1E88200D-467C-171C-069E-94905A68B6B0}"/>
              </a:ext>
            </a:extLst>
          </p:cNvPr>
          <p:cNvSpPr txBox="1"/>
          <p:nvPr/>
        </p:nvSpPr>
        <p:spPr>
          <a:xfrm>
            <a:off x="213188" y="2751969"/>
            <a:ext cx="6097712" cy="1754326"/>
          </a:xfrm>
          <a:prstGeom prst="rect">
            <a:avLst/>
          </a:prstGeom>
          <a:noFill/>
        </p:spPr>
        <p:txBody>
          <a:bodyPr wrap="square">
            <a:spAutoFit/>
          </a:bodyPr>
          <a:lstStyle/>
          <a:p>
            <a:pPr>
              <a:buNone/>
            </a:pPr>
            <a:r>
              <a:rPr lang="en-US" b="1" dirty="0"/>
              <a:t>Purpose of Retrospective</a:t>
            </a:r>
          </a:p>
          <a:p>
            <a:pPr>
              <a:buNone/>
            </a:pPr>
            <a:r>
              <a:rPr lang="en-US" dirty="0"/>
              <a:t>The Retrospective helps the team:</a:t>
            </a:r>
          </a:p>
          <a:p>
            <a:pPr>
              <a:buNone/>
            </a:pPr>
            <a:endParaRPr lang="en-US" dirty="0"/>
          </a:p>
          <a:p>
            <a:r>
              <a:rPr lang="en-US" dirty="0"/>
              <a:t>- Identify what went well</a:t>
            </a:r>
          </a:p>
          <a:p>
            <a:r>
              <a:rPr lang="en-US" dirty="0"/>
              <a:t>- Understand what did not go well</a:t>
            </a:r>
          </a:p>
          <a:p>
            <a:r>
              <a:rPr lang="en-US" dirty="0"/>
              <a:t>- Decide on actionable improvements for the next sprint</a:t>
            </a:r>
          </a:p>
        </p:txBody>
      </p:sp>
      <p:sp>
        <p:nvSpPr>
          <p:cNvPr id="13" name="TextBox 12">
            <a:extLst>
              <a:ext uri="{FF2B5EF4-FFF2-40B4-BE49-F238E27FC236}">
                <a16:creationId xmlns:a16="http://schemas.microsoft.com/office/drawing/2014/main" id="{0E57A3BD-2565-E91E-BB97-16DA3EAC7DE7}"/>
              </a:ext>
            </a:extLst>
          </p:cNvPr>
          <p:cNvSpPr txBox="1"/>
          <p:nvPr/>
        </p:nvSpPr>
        <p:spPr>
          <a:xfrm>
            <a:off x="213188" y="4999251"/>
            <a:ext cx="6097712" cy="1200329"/>
          </a:xfrm>
          <a:prstGeom prst="rect">
            <a:avLst/>
          </a:prstGeom>
          <a:noFill/>
        </p:spPr>
        <p:txBody>
          <a:bodyPr wrap="square">
            <a:spAutoFit/>
          </a:bodyPr>
          <a:lstStyle/>
          <a:p>
            <a:pPr>
              <a:buNone/>
            </a:pPr>
            <a:r>
              <a:rPr lang="en-US" b="1" dirty="0"/>
              <a:t>Outcomes of Retrospective</a:t>
            </a:r>
          </a:p>
          <a:p>
            <a:r>
              <a:rPr lang="en-US" dirty="0"/>
              <a:t>- Identified improvement areas</a:t>
            </a:r>
          </a:p>
          <a:p>
            <a:r>
              <a:rPr lang="en-US" dirty="0"/>
              <a:t>- Action items for process enhancement</a:t>
            </a:r>
          </a:p>
          <a:p>
            <a:r>
              <a:rPr lang="en-US" dirty="0"/>
              <a:t>- Better team collaboration and morale</a:t>
            </a:r>
          </a:p>
        </p:txBody>
      </p:sp>
    </p:spTree>
    <p:extLst>
      <p:ext uri="{BB962C8B-B14F-4D97-AF65-F5344CB8AC3E}">
        <p14:creationId xmlns:p14="http://schemas.microsoft.com/office/powerpoint/2010/main" val="412670403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473</Words>
  <Application>Microsoft Office PowerPoint</Application>
  <PresentationFormat>Widescreen</PresentationFormat>
  <Paragraphs>47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Kumar</dc:creator>
  <cp:lastModifiedBy>Amit Kumar</cp:lastModifiedBy>
  <cp:revision>1</cp:revision>
  <dcterms:created xsi:type="dcterms:W3CDTF">2025-12-15T03:47:40Z</dcterms:created>
  <dcterms:modified xsi:type="dcterms:W3CDTF">2025-12-15T03:48:15Z</dcterms:modified>
</cp:coreProperties>
</file>